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4" r:id="rId4"/>
  </p:sldMasterIdLst>
  <p:notesMasterIdLst>
    <p:notesMasterId r:id="rId5"/>
  </p:notesMasterIdLst>
  <p:sldIdLst>
    <p:sldId id="256" r:id="rId6"/>
    <p:sldId id="257" r:id="rId7"/>
    <p:sldId id="258" r:id="rId8"/>
    <p:sldId id="259" r:id="rId9"/>
    <p:sldId id="260" r:id="rId10"/>
    <p:sldId id="261" r:id="rId11"/>
    <p:sldId id="262" r:id="rId12"/>
    <p:sldId id="263" r:id="rId13"/>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1D4ADE2-D125-4FAC-8518-385F7C3E8750}">
  <a:tblStyle styleId="{A1D4ADE2-D125-4FAC-8518-385F7C3E8750}"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 name="Google Shape;28;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Sources: https://arc.yieldshield.ai and https://github.com/YieldShield/yieldshield-arc. Testnet only and unaudited. No external users, commercial revenue, grants or investment received. Grant funding is chain-specific and excludes existing/shared core work.</a:t>
            </a:r>
            <a:endParaRPr/>
          </a:p>
        </p:txBody>
      </p:sp>
      <p:sp>
        <p:nvSpPr>
          <p:cNvPr id="29" name="Google Shape;29;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 name="Shape 42"/>
        <p:cNvGrpSpPr/>
        <p:nvPr/>
      </p:nvGrpSpPr>
      <p:grpSpPr>
        <a:xfrm>
          <a:off x="0" y="0"/>
          <a:ext cx="0" cy="0"/>
          <a:chOff x="0" y="0"/>
          <a:chExt cx="0" cy="0"/>
        </a:xfrm>
      </p:grpSpPr>
      <p:sp>
        <p:nvSpPr>
          <p:cNvPr id="43" name="Google Shape;43;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 name="Google Shape;44;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Sources: https://arc.yieldshield.ai and https://github.com/YieldShield/yieldshield-arc. Testnet only and unaudited. No external users, commercial revenue, grants or investment received. Grant funding is chain-specific and excludes existing/shared core work.</a:t>
            </a:r>
            <a:endParaRPr/>
          </a:p>
        </p:txBody>
      </p:sp>
      <p:sp>
        <p:nvSpPr>
          <p:cNvPr id="45" name="Google Shape;45;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 name="Google Shape;60;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Sources: https://arc.yieldshield.ai and https://github.com/YieldShield/yieldshield-arc. Testnet only and unaudited. No external users, commercial revenue, grants or investment received. Grant funding is chain-specific and excludes existing/shared core work.</a:t>
            </a:r>
            <a:endParaRPr/>
          </a:p>
          <a:p>
            <a:pPr indent="0" lvl="0" marL="0" rtl="0" algn="l">
              <a:spcBef>
                <a:spcPts val="0"/>
              </a:spcBef>
              <a:spcAft>
                <a:spcPts val="0"/>
              </a:spcAft>
              <a:buNone/>
            </a:pPr>
            <a:r>
              <a:rPr lang="en-US"/>
              <a:t>Mechanism: ShieldPool.sol. A holder's claim is fixed at entry; provider capital reserves 150%. Before maturity, holders may retrieve assets less gain fees or surrender them for USDC. At maturity, permissionless settlement transfers remaining assets to providers and records the owner's pull claim. Providers bear downside. Contract, oracle, token and execution risks remain.</a:t>
            </a:r>
            <a:endParaRPr/>
          </a:p>
        </p:txBody>
      </p:sp>
      <p:sp>
        <p:nvSpPr>
          <p:cNvPr id="61" name="Google Shape;61;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7" name="Google Shape;77;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Sources: https://arc.yieldshield.ai and https://github.com/YieldShield/yieldshield-arc. Testnet only and unaudited. No external users, commercial revenue, grants or investment received. Grant funding is chain-specific and excludes existing/shared core work.</a:t>
            </a:r>
            <a:endParaRPr/>
          </a:p>
          <a:p>
            <a:pPr indent="0" lvl="0" marL="0" rtl="0" algn="l">
              <a:spcBef>
                <a:spcPts val="0"/>
              </a:spcBef>
              <a:spcAft>
                <a:spcPts val="0"/>
              </a:spcAft>
              <a:buNone/>
            </a:pPr>
            <a:r>
              <a:rPr lang="en-US"/>
              <a:t>CCTP route research: docs/grants/CCTP_ROUTE_VALIDATION_2026-10-20.md. Planned routes are Arc Testnet domain 26 to Ethereum Sepolia domain 0 and Base Sepolia domain 6, for USDC and EURC. USDC uses TokenMessengerV2.depositForBurn. EURC uses CCTP non-USDC CrossChainTokenService.crossChainTransfer and per-token TokenManager approval. App Kit Bridge routes both. Read-only registry and bilateral trust configuration checks are complete; actual integration and transfer receipts remain future grant work. Source: https://developers.circle.com/cctp/concepts/supported-chains-and-domains</a:t>
            </a:r>
            <a:endParaRPr/>
          </a:p>
        </p:txBody>
      </p:sp>
      <p:sp>
        <p:nvSpPr>
          <p:cNvPr id="78" name="Google Shape;78;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3" name="Google Shape;93;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Sources: https://arc.yieldshield.ai and https://github.com/YieldShield/yieldshield-arc. Testnet only and unaudited. No external users, commercial revenue, grants or investment received. Grant funding is chain-specific and excludes existing/shared core work.</a:t>
            </a:r>
            <a:endParaRPr/>
          </a:p>
          <a:p>
            <a:pPr indent="0" lvl="0" marL="0" rtl="0" algn="l">
              <a:spcBef>
                <a:spcPts val="0"/>
              </a:spcBef>
              <a:spcAft>
                <a:spcPts val="0"/>
              </a:spcAft>
              <a:buNone/>
            </a:pPr>
            <a:r>
              <a:rPr lang="en-US"/>
              <a:t>Deployment verification means runtime code compared with the local build (immutable slots masked), asset identities, wiring, terms and recorded receipts checked. This does not claim explorer-published source verification or an audit. The 8-transaction scripted journey used our own test wallet, not external users. Browser-wallet signing remains unclaimed.</a:t>
            </a:r>
            <a:endParaRPr/>
          </a:p>
        </p:txBody>
      </p:sp>
      <p:sp>
        <p:nvSpPr>
          <p:cNvPr id="94" name="Google Shape;94;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9" name="Google Shape;109;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Sources: https://arc.yieldshield.ai and https://github.com/YieldShield/yieldshield-arc. Testnet only and unaudited. No external users, commercial revenue, grants or investment received. Grant funding is chain-specific and excludes existing/shared core work.</a:t>
            </a:r>
            <a:endParaRPr/>
          </a:p>
          <a:p>
            <a:pPr indent="0" lvl="0" marL="0" rtl="0" algn="l">
              <a:spcBef>
                <a:spcPts val="0"/>
              </a:spcBef>
              <a:spcAft>
                <a:spcPts val="0"/>
              </a:spcAft>
              <a:buNone/>
            </a:pPr>
            <a:r>
              <a:rPr lang="en-US"/>
              <a:t>Pilot source: docs/grants/ARC_PILOT_PLAN.md. David owns recruitment and technical support; Santiago owns interviews and usability analysis. Target 10 testers from at least three independent teams, 30 journeys, 8/10 completing a core journey without live founder help, and two follow-on integration expressions of interest. Recruitment and interviews outside the 30-hour milestone engineering allowance are founder-funded. All numbers are targets, not traction or partnerships.</a:t>
            </a:r>
            <a:endParaRPr/>
          </a:p>
        </p:txBody>
      </p:sp>
      <p:sp>
        <p:nvSpPr>
          <p:cNvPr id="110" name="Google Shape;110;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6" name="Google Shape;126;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Sources: https://arc.yieldshield.ai and https://github.com/YieldShield/yieldshield-arc. Testnet only and unaudited. No external users, commercial revenue, grants or investment received. Grant funding is chain-specific and excludes existing/shared core work.</a:t>
            </a:r>
            <a:endParaRPr/>
          </a:p>
          <a:p>
            <a:pPr indent="0" lvl="0" marL="0" rtl="0" algn="l">
              <a:spcBef>
                <a:spcPts val="0"/>
              </a:spcBef>
              <a:spcAft>
                <a:spcPts val="0"/>
              </a:spcAft>
              <a:buNone/>
            </a:pPr>
            <a:r>
              <a:rPr lang="en-US"/>
              <a:t>Portraits: YieldShield_V0.13_Robinhood.pptx, slide 13, Team/Partnerships, https://docs.google.com/presentation/d/1s74o5XRnIDTBbQAaa99iY1M_tRgiG3Ow/edit . Original image26.png (rId3) is above David Hawig's name. Original image18.png (rId4) is above Santiago Balaguer's name. Photos retain their square proportions without face editing. Founder locations and roles were confirmed for the current application.</a:t>
            </a:r>
            <a:endParaRPr/>
          </a:p>
        </p:txBody>
      </p:sp>
      <p:sp>
        <p:nvSpPr>
          <p:cNvPr id="127" name="Google Shape;127;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4" name="Google Shape;144;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Sources: https://arc.yieldshield.ai and https://github.com/YieldShield/yieldshield-arc. Testnet only and unaudited. No external users, commercial revenue, grants or investment received. Grant funding is chain-specific and excludes existing/shared core work.</a:t>
            </a:r>
            <a:endParaRPr/>
          </a:p>
          <a:p>
            <a:pPr indent="0" lvl="0" marL="0" rtl="0" algn="l">
              <a:spcBef>
                <a:spcPts val="0"/>
              </a:spcBef>
              <a:spcAft>
                <a:spcPts val="0"/>
              </a:spcAft>
              <a:buNone/>
            </a:pPr>
            <a:r>
              <a:rPr lang="en-US"/>
              <a:t>Milestone 1 requires four testnet transfers: each token (USDC and EURC) to each destination (Ethereum Sepolia and Base Sepolia), with source transaction, attestation, destination mint, recipient balance delta and recovery evidence. M2 records unsigned agent preparation followed by a person signing in MetaMask, plus ERC-8004 identity. M3 includes invariants, threat model, monitoring and external pilot. M4 is conditional on an independent audit and legal review funded outside this grant; otherwise it remains blocked or requires an agreed scope change. No mainnet safety claim is implied.</a:t>
            </a:r>
            <a:endParaRPr/>
          </a:p>
        </p:txBody>
      </p:sp>
      <p:sp>
        <p:nvSpPr>
          <p:cNvPr id="145" name="Google Shape;145;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title"/>
          </p:nvPr>
        </p:nvSpPr>
        <p:spPr>
          <a:xfrm>
            <a:off x="1219200" y="2590800"/>
            <a:ext cx="9753600" cy="990600"/>
          </a:xfrm>
          <a:prstGeom prst="rect">
            <a:avLst/>
          </a:prstGeom>
          <a:noFill/>
          <a:ln>
            <a:noFill/>
          </a:ln>
        </p:spPr>
        <p:txBody>
          <a:bodyPr anchorCtr="0" anchor="ctr" bIns="0" lIns="0" spcFirstLastPara="1" rIns="0" wrap="square" tIns="0">
            <a:normAutofit/>
          </a:bodyPr>
          <a:lstStyle>
            <a:lvl1pPr lvl="0" marR="0" rtl="0" algn="ctr">
              <a:lnSpc>
                <a:spcPct val="110000"/>
              </a:lnSpc>
              <a:spcBef>
                <a:spcPts val="0"/>
              </a:spcBef>
              <a:spcAft>
                <a:spcPts val="0"/>
              </a:spcAft>
              <a:buClr>
                <a:schemeClr val="dk1"/>
              </a:buClr>
              <a:buSzPts val="4800"/>
              <a:buFont typeface="Arial"/>
              <a:buNone/>
              <a:defRPr b="1" i="0" sz="4800" u="none" cap="none" strike="noStrike">
                <a:solidFill>
                  <a:schemeClr val="dk1"/>
                </a:solidFill>
                <a:latin typeface="Arial"/>
                <a:ea typeface="Arial"/>
                <a:cs typeface="Arial"/>
                <a:sym typeface="Arial"/>
              </a:defRPr>
            </a:lvl1pPr>
            <a:lvl2pPr lvl="1" algn="ctr">
              <a:lnSpc>
                <a:spcPct val="110000"/>
              </a:lnSpc>
              <a:spcBef>
                <a:spcPts val="0"/>
              </a:spcBef>
              <a:spcAft>
                <a:spcPts val="0"/>
              </a:spcAft>
              <a:buClr>
                <a:schemeClr val="dk1"/>
              </a:buClr>
              <a:buSzPts val="4800"/>
              <a:buFont typeface="Arial"/>
              <a:buNone/>
              <a:defRPr b="1" sz="4800">
                <a:solidFill>
                  <a:schemeClr val="dk1"/>
                </a:solidFill>
                <a:latin typeface="Arial"/>
                <a:ea typeface="Arial"/>
                <a:cs typeface="Arial"/>
                <a:sym typeface="Arial"/>
              </a:defRPr>
            </a:lvl2pPr>
            <a:lvl3pPr lvl="2" algn="ctr">
              <a:lnSpc>
                <a:spcPct val="110000"/>
              </a:lnSpc>
              <a:spcBef>
                <a:spcPts val="0"/>
              </a:spcBef>
              <a:spcAft>
                <a:spcPts val="0"/>
              </a:spcAft>
              <a:buClr>
                <a:schemeClr val="dk1"/>
              </a:buClr>
              <a:buSzPts val="4800"/>
              <a:buFont typeface="Arial"/>
              <a:buNone/>
              <a:defRPr b="1" sz="4800">
                <a:solidFill>
                  <a:schemeClr val="dk1"/>
                </a:solidFill>
                <a:latin typeface="Arial"/>
                <a:ea typeface="Arial"/>
                <a:cs typeface="Arial"/>
                <a:sym typeface="Arial"/>
              </a:defRPr>
            </a:lvl3pPr>
            <a:lvl4pPr lvl="3" algn="ctr">
              <a:lnSpc>
                <a:spcPct val="110000"/>
              </a:lnSpc>
              <a:spcBef>
                <a:spcPts val="0"/>
              </a:spcBef>
              <a:spcAft>
                <a:spcPts val="0"/>
              </a:spcAft>
              <a:buClr>
                <a:schemeClr val="dk1"/>
              </a:buClr>
              <a:buSzPts val="4800"/>
              <a:buFont typeface="Arial"/>
              <a:buNone/>
              <a:defRPr b="1" sz="4800">
                <a:solidFill>
                  <a:schemeClr val="dk1"/>
                </a:solidFill>
                <a:latin typeface="Arial"/>
                <a:ea typeface="Arial"/>
                <a:cs typeface="Arial"/>
                <a:sym typeface="Arial"/>
              </a:defRPr>
            </a:lvl4pPr>
            <a:lvl5pPr lvl="4" algn="ctr">
              <a:lnSpc>
                <a:spcPct val="110000"/>
              </a:lnSpc>
              <a:spcBef>
                <a:spcPts val="0"/>
              </a:spcBef>
              <a:spcAft>
                <a:spcPts val="0"/>
              </a:spcAft>
              <a:buClr>
                <a:schemeClr val="dk1"/>
              </a:buClr>
              <a:buSzPts val="4800"/>
              <a:buFont typeface="Arial"/>
              <a:buNone/>
              <a:defRPr b="1" sz="4800">
                <a:solidFill>
                  <a:schemeClr val="dk1"/>
                </a:solidFill>
                <a:latin typeface="Arial"/>
                <a:ea typeface="Arial"/>
                <a:cs typeface="Arial"/>
                <a:sym typeface="Arial"/>
              </a:defRPr>
            </a:lvl5pPr>
            <a:lvl6pPr lvl="5" algn="ctr">
              <a:lnSpc>
                <a:spcPct val="110000"/>
              </a:lnSpc>
              <a:spcBef>
                <a:spcPts val="0"/>
              </a:spcBef>
              <a:spcAft>
                <a:spcPts val="0"/>
              </a:spcAft>
              <a:buClr>
                <a:schemeClr val="dk1"/>
              </a:buClr>
              <a:buSzPts val="4800"/>
              <a:buFont typeface="Arial"/>
              <a:buNone/>
              <a:defRPr b="1" sz="4800">
                <a:solidFill>
                  <a:schemeClr val="dk1"/>
                </a:solidFill>
                <a:latin typeface="Arial"/>
                <a:ea typeface="Arial"/>
                <a:cs typeface="Arial"/>
                <a:sym typeface="Arial"/>
              </a:defRPr>
            </a:lvl6pPr>
            <a:lvl7pPr lvl="6" algn="ctr">
              <a:lnSpc>
                <a:spcPct val="110000"/>
              </a:lnSpc>
              <a:spcBef>
                <a:spcPts val="0"/>
              </a:spcBef>
              <a:spcAft>
                <a:spcPts val="0"/>
              </a:spcAft>
              <a:buClr>
                <a:schemeClr val="dk1"/>
              </a:buClr>
              <a:buSzPts val="4800"/>
              <a:buFont typeface="Arial"/>
              <a:buNone/>
              <a:defRPr b="1" sz="4800">
                <a:solidFill>
                  <a:schemeClr val="dk1"/>
                </a:solidFill>
                <a:latin typeface="Arial"/>
                <a:ea typeface="Arial"/>
                <a:cs typeface="Arial"/>
                <a:sym typeface="Arial"/>
              </a:defRPr>
            </a:lvl7pPr>
            <a:lvl8pPr lvl="7" algn="ctr">
              <a:lnSpc>
                <a:spcPct val="110000"/>
              </a:lnSpc>
              <a:spcBef>
                <a:spcPts val="0"/>
              </a:spcBef>
              <a:spcAft>
                <a:spcPts val="0"/>
              </a:spcAft>
              <a:buClr>
                <a:schemeClr val="dk1"/>
              </a:buClr>
              <a:buSzPts val="4800"/>
              <a:buFont typeface="Arial"/>
              <a:buNone/>
              <a:defRPr b="1" sz="4800">
                <a:solidFill>
                  <a:schemeClr val="dk1"/>
                </a:solidFill>
                <a:latin typeface="Arial"/>
                <a:ea typeface="Arial"/>
                <a:cs typeface="Arial"/>
                <a:sym typeface="Arial"/>
              </a:defRPr>
            </a:lvl8pPr>
            <a:lvl9pPr lvl="8" algn="ctr">
              <a:lnSpc>
                <a:spcPct val="110000"/>
              </a:lnSpc>
              <a:spcBef>
                <a:spcPts val="0"/>
              </a:spcBef>
              <a:spcAft>
                <a:spcPts val="0"/>
              </a:spcAft>
              <a:buClr>
                <a:schemeClr val="dk1"/>
              </a:buClr>
              <a:buSzPts val="4800"/>
              <a:buFont typeface="Arial"/>
              <a:buNone/>
              <a:defRPr b="1" sz="4800">
                <a:solidFill>
                  <a:schemeClr val="dk1"/>
                </a:solidFill>
                <a:latin typeface="Arial"/>
                <a:ea typeface="Arial"/>
                <a:cs typeface="Arial"/>
                <a:sym typeface="Arial"/>
              </a:defRPr>
            </a:lvl9pPr>
          </a:lstStyle>
          <a:p/>
        </p:txBody>
      </p:sp>
      <p:sp>
        <p:nvSpPr>
          <p:cNvPr id="13" name="Google Shape;13;p3"/>
          <p:cNvSpPr txBox="1"/>
          <p:nvPr>
            <p:ph idx="1" type="subTitle"/>
          </p:nvPr>
        </p:nvSpPr>
        <p:spPr>
          <a:xfrm>
            <a:off x="1828800" y="3771900"/>
            <a:ext cx="8534400" cy="762000"/>
          </a:xfrm>
          <a:prstGeom prst="rect">
            <a:avLst/>
          </a:prstGeom>
          <a:noFill/>
          <a:ln>
            <a:noFill/>
          </a:ln>
        </p:spPr>
        <p:txBody>
          <a:bodyPr anchorCtr="0" anchor="ctr" bIns="0" lIns="0" spcFirstLastPara="1" rIns="0" wrap="square" tIns="0">
            <a:normAutofit/>
          </a:bodyPr>
          <a:lstStyle>
            <a:lvl1pPr lvl="0" marR="0" rtl="0" algn="ctr">
              <a:lnSpc>
                <a:spcPct val="110000"/>
              </a:lnSpc>
              <a:spcBef>
                <a:spcPts val="0"/>
              </a:spcBef>
              <a:spcAft>
                <a:spcPts val="0"/>
              </a:spcAft>
              <a:buClr>
                <a:schemeClr val="dk1"/>
              </a:buClr>
              <a:buSzPts val="2100"/>
              <a:buFont typeface="Arial"/>
              <a:buNone/>
              <a:defRPr b="0" i="0" sz="2100" u="none" cap="none" strike="noStrike">
                <a:solidFill>
                  <a:schemeClr val="dk1"/>
                </a:solidFill>
                <a:latin typeface="Arial"/>
                <a:ea typeface="Arial"/>
                <a:cs typeface="Arial"/>
                <a:sym typeface="Arial"/>
              </a:defRPr>
            </a:lvl1pPr>
            <a:lvl2pPr lvl="1" marR="0" rtl="0" algn="ctr">
              <a:lnSpc>
                <a:spcPct val="110000"/>
              </a:lnSpc>
              <a:spcBef>
                <a:spcPts val="0"/>
              </a:spcBef>
              <a:spcAft>
                <a:spcPts val="0"/>
              </a:spcAft>
              <a:buClr>
                <a:schemeClr val="dk1"/>
              </a:buClr>
              <a:buSzPts val="2100"/>
              <a:buFont typeface="Arial"/>
              <a:buNone/>
              <a:defRPr b="0" i="0" sz="2100" u="none" cap="none" strike="noStrike">
                <a:solidFill>
                  <a:schemeClr val="dk1"/>
                </a:solidFill>
                <a:latin typeface="Arial"/>
                <a:ea typeface="Arial"/>
                <a:cs typeface="Arial"/>
                <a:sym typeface="Arial"/>
              </a:defRPr>
            </a:lvl2pPr>
            <a:lvl3pPr lvl="2" marR="0" rtl="0" algn="ctr">
              <a:lnSpc>
                <a:spcPct val="110000"/>
              </a:lnSpc>
              <a:spcBef>
                <a:spcPts val="0"/>
              </a:spcBef>
              <a:spcAft>
                <a:spcPts val="0"/>
              </a:spcAft>
              <a:buClr>
                <a:schemeClr val="dk1"/>
              </a:buClr>
              <a:buSzPts val="2100"/>
              <a:buFont typeface="Arial"/>
              <a:buNone/>
              <a:defRPr b="0" i="0" sz="2100" u="none" cap="none" strike="noStrike">
                <a:solidFill>
                  <a:schemeClr val="dk1"/>
                </a:solidFill>
                <a:latin typeface="Arial"/>
                <a:ea typeface="Arial"/>
                <a:cs typeface="Arial"/>
                <a:sym typeface="Arial"/>
              </a:defRPr>
            </a:lvl3pPr>
            <a:lvl4pPr lvl="3" marR="0" rtl="0" algn="ctr">
              <a:lnSpc>
                <a:spcPct val="110000"/>
              </a:lnSpc>
              <a:spcBef>
                <a:spcPts val="0"/>
              </a:spcBef>
              <a:spcAft>
                <a:spcPts val="0"/>
              </a:spcAft>
              <a:buClr>
                <a:schemeClr val="dk1"/>
              </a:buClr>
              <a:buSzPts val="2100"/>
              <a:buFont typeface="Arial"/>
              <a:buNone/>
              <a:defRPr b="0" i="0" sz="2100" u="none" cap="none" strike="noStrike">
                <a:solidFill>
                  <a:schemeClr val="dk1"/>
                </a:solidFill>
                <a:latin typeface="Arial"/>
                <a:ea typeface="Arial"/>
                <a:cs typeface="Arial"/>
                <a:sym typeface="Arial"/>
              </a:defRPr>
            </a:lvl4pPr>
            <a:lvl5pPr lvl="4" marR="0" rtl="0" algn="ctr">
              <a:lnSpc>
                <a:spcPct val="110000"/>
              </a:lnSpc>
              <a:spcBef>
                <a:spcPts val="0"/>
              </a:spcBef>
              <a:spcAft>
                <a:spcPts val="0"/>
              </a:spcAft>
              <a:buClr>
                <a:schemeClr val="dk1"/>
              </a:buClr>
              <a:buSzPts val="2100"/>
              <a:buFont typeface="Arial"/>
              <a:buNone/>
              <a:defRPr b="0" i="0" sz="2100" u="none" cap="none" strike="noStrike">
                <a:solidFill>
                  <a:schemeClr val="dk1"/>
                </a:solidFill>
                <a:latin typeface="Arial"/>
                <a:ea typeface="Arial"/>
                <a:cs typeface="Arial"/>
                <a:sym typeface="Arial"/>
              </a:defRPr>
            </a:lvl5pPr>
            <a:lvl6pPr lvl="5" marR="0" rtl="0" algn="ctr">
              <a:lnSpc>
                <a:spcPct val="110000"/>
              </a:lnSpc>
              <a:spcBef>
                <a:spcPts val="0"/>
              </a:spcBef>
              <a:spcAft>
                <a:spcPts val="0"/>
              </a:spcAft>
              <a:buClr>
                <a:schemeClr val="dk1"/>
              </a:buClr>
              <a:buSzPts val="2100"/>
              <a:buFont typeface="Arial"/>
              <a:buNone/>
              <a:defRPr b="0" i="0" sz="2100" u="none" cap="none" strike="noStrike">
                <a:solidFill>
                  <a:schemeClr val="dk1"/>
                </a:solidFill>
                <a:latin typeface="Arial"/>
                <a:ea typeface="Arial"/>
                <a:cs typeface="Arial"/>
                <a:sym typeface="Arial"/>
              </a:defRPr>
            </a:lvl6pPr>
            <a:lvl7pPr lvl="6" marR="0" rtl="0" algn="ctr">
              <a:lnSpc>
                <a:spcPct val="110000"/>
              </a:lnSpc>
              <a:spcBef>
                <a:spcPts val="0"/>
              </a:spcBef>
              <a:spcAft>
                <a:spcPts val="0"/>
              </a:spcAft>
              <a:buClr>
                <a:schemeClr val="dk1"/>
              </a:buClr>
              <a:buSzPts val="2100"/>
              <a:buFont typeface="Arial"/>
              <a:buNone/>
              <a:defRPr b="0" i="0" sz="2100" u="none" cap="none" strike="noStrike">
                <a:solidFill>
                  <a:schemeClr val="dk1"/>
                </a:solidFill>
                <a:latin typeface="Arial"/>
                <a:ea typeface="Arial"/>
                <a:cs typeface="Arial"/>
                <a:sym typeface="Arial"/>
              </a:defRPr>
            </a:lvl7pPr>
            <a:lvl8pPr lvl="7" marR="0" rtl="0" algn="ctr">
              <a:lnSpc>
                <a:spcPct val="110000"/>
              </a:lnSpc>
              <a:spcBef>
                <a:spcPts val="0"/>
              </a:spcBef>
              <a:spcAft>
                <a:spcPts val="0"/>
              </a:spcAft>
              <a:buClr>
                <a:schemeClr val="dk1"/>
              </a:buClr>
              <a:buSzPts val="2100"/>
              <a:buFont typeface="Arial"/>
              <a:buNone/>
              <a:defRPr b="0" i="0" sz="2100" u="none" cap="none" strike="noStrike">
                <a:solidFill>
                  <a:schemeClr val="dk1"/>
                </a:solidFill>
                <a:latin typeface="Arial"/>
                <a:ea typeface="Arial"/>
                <a:cs typeface="Arial"/>
                <a:sym typeface="Arial"/>
              </a:defRPr>
            </a:lvl8pPr>
            <a:lvl9pPr lvl="8" marR="0" rtl="0" algn="ctr">
              <a:lnSpc>
                <a:spcPct val="110000"/>
              </a:lnSpc>
              <a:spcBef>
                <a:spcPts val="0"/>
              </a:spcBef>
              <a:spcAft>
                <a:spcPts val="0"/>
              </a:spcAft>
              <a:buClr>
                <a:schemeClr val="dk1"/>
              </a:buClr>
              <a:buSzPts val="2100"/>
              <a:buFont typeface="Arial"/>
              <a:buNone/>
              <a:defRPr b="0" i="0" sz="21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4" name="Shape 14"/>
        <p:cNvGrpSpPr/>
        <p:nvPr/>
      </p:nvGrpSpPr>
      <p:grpSpPr>
        <a:xfrm>
          <a:off x="0" y="0"/>
          <a:ext cx="0" cy="0"/>
          <a:chOff x="0" y="0"/>
          <a:chExt cx="0" cy="0"/>
        </a:xfrm>
      </p:grpSpPr>
      <p:sp>
        <p:nvSpPr>
          <p:cNvPr id="15" name="Google Shape;15;p4"/>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lvl1pPr lvl="0" marR="0" rtl="0" algn="ctr">
              <a:lnSpc>
                <a:spcPct val="110000"/>
              </a:lnSpc>
              <a:spcBef>
                <a:spcPts val="0"/>
              </a:spcBef>
              <a:spcAft>
                <a:spcPts val="0"/>
              </a:spcAft>
              <a:buClr>
                <a:schemeClr val="dk1"/>
              </a:buClr>
              <a:buSzPts val="4200"/>
              <a:buFont typeface="Arial"/>
              <a:buNone/>
              <a:defRPr b="1" i="0" sz="4200" u="none" cap="none" strike="noStrike">
                <a:solidFill>
                  <a:schemeClr val="dk1"/>
                </a:solidFill>
                <a:latin typeface="Arial"/>
                <a:ea typeface="Arial"/>
                <a:cs typeface="Arial"/>
                <a:sym typeface="Arial"/>
              </a:defRPr>
            </a:lvl1pPr>
            <a:lvl2pPr lvl="1" algn="ctr">
              <a:lnSpc>
                <a:spcPct val="110000"/>
              </a:lnSpc>
              <a:spcBef>
                <a:spcPts val="0"/>
              </a:spcBef>
              <a:spcAft>
                <a:spcPts val="0"/>
              </a:spcAft>
              <a:buClr>
                <a:schemeClr val="dk1"/>
              </a:buClr>
              <a:buSzPts val="4200"/>
              <a:buFont typeface="Arial"/>
              <a:buNone/>
              <a:defRPr b="1" sz="4200">
                <a:solidFill>
                  <a:schemeClr val="dk1"/>
                </a:solidFill>
                <a:latin typeface="Arial"/>
                <a:ea typeface="Arial"/>
                <a:cs typeface="Arial"/>
                <a:sym typeface="Arial"/>
              </a:defRPr>
            </a:lvl2pPr>
            <a:lvl3pPr lvl="2" algn="ctr">
              <a:lnSpc>
                <a:spcPct val="110000"/>
              </a:lnSpc>
              <a:spcBef>
                <a:spcPts val="0"/>
              </a:spcBef>
              <a:spcAft>
                <a:spcPts val="0"/>
              </a:spcAft>
              <a:buClr>
                <a:schemeClr val="dk1"/>
              </a:buClr>
              <a:buSzPts val="4200"/>
              <a:buFont typeface="Arial"/>
              <a:buNone/>
              <a:defRPr b="1" sz="4200">
                <a:solidFill>
                  <a:schemeClr val="dk1"/>
                </a:solidFill>
                <a:latin typeface="Arial"/>
                <a:ea typeface="Arial"/>
                <a:cs typeface="Arial"/>
                <a:sym typeface="Arial"/>
              </a:defRPr>
            </a:lvl3pPr>
            <a:lvl4pPr lvl="3" algn="ctr">
              <a:lnSpc>
                <a:spcPct val="110000"/>
              </a:lnSpc>
              <a:spcBef>
                <a:spcPts val="0"/>
              </a:spcBef>
              <a:spcAft>
                <a:spcPts val="0"/>
              </a:spcAft>
              <a:buClr>
                <a:schemeClr val="dk1"/>
              </a:buClr>
              <a:buSzPts val="4200"/>
              <a:buFont typeface="Arial"/>
              <a:buNone/>
              <a:defRPr b="1" sz="4200">
                <a:solidFill>
                  <a:schemeClr val="dk1"/>
                </a:solidFill>
                <a:latin typeface="Arial"/>
                <a:ea typeface="Arial"/>
                <a:cs typeface="Arial"/>
                <a:sym typeface="Arial"/>
              </a:defRPr>
            </a:lvl4pPr>
            <a:lvl5pPr lvl="4" algn="ctr">
              <a:lnSpc>
                <a:spcPct val="110000"/>
              </a:lnSpc>
              <a:spcBef>
                <a:spcPts val="0"/>
              </a:spcBef>
              <a:spcAft>
                <a:spcPts val="0"/>
              </a:spcAft>
              <a:buClr>
                <a:schemeClr val="dk1"/>
              </a:buClr>
              <a:buSzPts val="4200"/>
              <a:buFont typeface="Arial"/>
              <a:buNone/>
              <a:defRPr b="1" sz="4200">
                <a:solidFill>
                  <a:schemeClr val="dk1"/>
                </a:solidFill>
                <a:latin typeface="Arial"/>
                <a:ea typeface="Arial"/>
                <a:cs typeface="Arial"/>
                <a:sym typeface="Arial"/>
              </a:defRPr>
            </a:lvl5pPr>
            <a:lvl6pPr lvl="5" algn="ctr">
              <a:lnSpc>
                <a:spcPct val="110000"/>
              </a:lnSpc>
              <a:spcBef>
                <a:spcPts val="0"/>
              </a:spcBef>
              <a:spcAft>
                <a:spcPts val="0"/>
              </a:spcAft>
              <a:buClr>
                <a:schemeClr val="dk1"/>
              </a:buClr>
              <a:buSzPts val="4200"/>
              <a:buFont typeface="Arial"/>
              <a:buNone/>
              <a:defRPr b="1" sz="4200">
                <a:solidFill>
                  <a:schemeClr val="dk1"/>
                </a:solidFill>
                <a:latin typeface="Arial"/>
                <a:ea typeface="Arial"/>
                <a:cs typeface="Arial"/>
                <a:sym typeface="Arial"/>
              </a:defRPr>
            </a:lvl6pPr>
            <a:lvl7pPr lvl="6" algn="ctr">
              <a:lnSpc>
                <a:spcPct val="110000"/>
              </a:lnSpc>
              <a:spcBef>
                <a:spcPts val="0"/>
              </a:spcBef>
              <a:spcAft>
                <a:spcPts val="0"/>
              </a:spcAft>
              <a:buClr>
                <a:schemeClr val="dk1"/>
              </a:buClr>
              <a:buSzPts val="4200"/>
              <a:buFont typeface="Arial"/>
              <a:buNone/>
              <a:defRPr b="1" sz="4200">
                <a:solidFill>
                  <a:schemeClr val="dk1"/>
                </a:solidFill>
                <a:latin typeface="Arial"/>
                <a:ea typeface="Arial"/>
                <a:cs typeface="Arial"/>
                <a:sym typeface="Arial"/>
              </a:defRPr>
            </a:lvl7pPr>
            <a:lvl8pPr lvl="7" algn="ctr">
              <a:lnSpc>
                <a:spcPct val="110000"/>
              </a:lnSpc>
              <a:spcBef>
                <a:spcPts val="0"/>
              </a:spcBef>
              <a:spcAft>
                <a:spcPts val="0"/>
              </a:spcAft>
              <a:buClr>
                <a:schemeClr val="dk1"/>
              </a:buClr>
              <a:buSzPts val="4200"/>
              <a:buFont typeface="Arial"/>
              <a:buNone/>
              <a:defRPr b="1" sz="4200">
                <a:solidFill>
                  <a:schemeClr val="dk1"/>
                </a:solidFill>
                <a:latin typeface="Arial"/>
                <a:ea typeface="Arial"/>
                <a:cs typeface="Arial"/>
                <a:sym typeface="Arial"/>
              </a:defRPr>
            </a:lvl8pPr>
            <a:lvl9pPr lvl="8" algn="ctr">
              <a:lnSpc>
                <a:spcPct val="110000"/>
              </a:lnSpc>
              <a:spcBef>
                <a:spcPts val="0"/>
              </a:spcBef>
              <a:spcAft>
                <a:spcPts val="0"/>
              </a:spcAft>
              <a:buClr>
                <a:schemeClr val="dk1"/>
              </a:buClr>
              <a:buSzPts val="4200"/>
              <a:buFont typeface="Arial"/>
              <a:buNone/>
              <a:defRPr b="1" sz="4200">
                <a:solidFill>
                  <a:schemeClr val="dk1"/>
                </a:solidFill>
                <a:latin typeface="Arial"/>
                <a:ea typeface="Arial"/>
                <a:cs typeface="Arial"/>
                <a:sym typeface="Arial"/>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16" name="Shape 16"/>
        <p:cNvGrpSpPr/>
        <p:nvPr/>
      </p:nvGrpSpPr>
      <p:grpSpPr>
        <a:xfrm>
          <a:off x="0" y="0"/>
          <a:ext cx="0" cy="0"/>
          <a:chOff x="0" y="0"/>
          <a:chExt cx="0" cy="0"/>
        </a:xfrm>
      </p:grpSpPr>
      <p:sp>
        <p:nvSpPr>
          <p:cNvPr id="17" name="Google Shape;17;p5"/>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3300"/>
              <a:buFont typeface="Arial"/>
              <a:buNone/>
              <a:defRPr b="1" i="0" sz="3300" u="none" cap="none" strike="noStrike">
                <a:solidFill>
                  <a:schemeClr val="dk1"/>
                </a:solidFill>
                <a:latin typeface="Arial"/>
                <a:ea typeface="Arial"/>
                <a:cs typeface="Arial"/>
                <a:sym typeface="Arial"/>
              </a:defRPr>
            </a:lvl1pPr>
            <a:lvl2pPr lvl="1"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2pPr>
            <a:lvl3pPr lvl="2"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3pPr>
            <a:lvl4pPr lvl="3"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4pPr>
            <a:lvl5pPr lvl="4"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5pPr>
            <a:lvl6pPr lvl="5"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6pPr>
            <a:lvl7pPr lvl="6"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7pPr>
            <a:lvl8pPr lvl="7"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8pPr>
            <a:lvl9pPr lvl="8"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9pPr>
          </a:lstStyle>
          <a:p/>
        </p:txBody>
      </p:sp>
      <p:sp>
        <p:nvSpPr>
          <p:cNvPr id="18" name="Google Shape;18;p5"/>
          <p:cNvSpPr txBox="1"/>
          <p:nvPr>
            <p:ph idx="1" type="body"/>
          </p:nvPr>
        </p:nvSpPr>
        <p:spPr>
          <a:xfrm>
            <a:off x="685800" y="1905000"/>
            <a:ext cx="10820400" cy="4267200"/>
          </a:xfrm>
          <a:prstGeom prst="rect">
            <a:avLst/>
          </a:prstGeom>
          <a:noFill/>
          <a:ln>
            <a:noFill/>
          </a:ln>
        </p:spPr>
        <p:txBody>
          <a:bodyPr anchorCtr="0" anchor="t" bIns="0" lIns="0" spcFirstLastPara="1" rIns="0" wrap="square" tIns="0">
            <a:normAutofit/>
          </a:bodyPr>
          <a:lstStyle>
            <a:lvl1pPr indent="-371475" lvl="0" marL="457200" marR="0" rtl="0" algn="l">
              <a:lnSpc>
                <a:spcPct val="110000"/>
              </a:lnSpc>
              <a:spcBef>
                <a:spcPts val="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1pPr>
            <a:lvl2pPr indent="-371475" lvl="1" marL="914400" marR="0" rtl="0" algn="l">
              <a:lnSpc>
                <a:spcPct val="110000"/>
              </a:lnSpc>
              <a:spcBef>
                <a:spcPts val="120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2pPr>
            <a:lvl3pPr indent="-371475" lvl="2" marL="1371600" marR="0" rtl="0" algn="l">
              <a:lnSpc>
                <a:spcPct val="110000"/>
              </a:lnSpc>
              <a:spcBef>
                <a:spcPts val="120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3pPr>
            <a:lvl4pPr indent="-371475" lvl="3" marL="1828800" marR="0" rtl="0" algn="l">
              <a:lnSpc>
                <a:spcPct val="110000"/>
              </a:lnSpc>
              <a:spcBef>
                <a:spcPts val="120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4pPr>
            <a:lvl5pPr indent="-371475" lvl="4" marL="2286000" marR="0" rtl="0" algn="l">
              <a:lnSpc>
                <a:spcPct val="110000"/>
              </a:lnSpc>
              <a:spcBef>
                <a:spcPts val="120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5pPr>
            <a:lvl6pPr indent="-371475" lvl="5" marL="2743200" marR="0" rtl="0" algn="l">
              <a:lnSpc>
                <a:spcPct val="110000"/>
              </a:lnSpc>
              <a:spcBef>
                <a:spcPts val="120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6pPr>
            <a:lvl7pPr indent="-371475" lvl="6" marL="3200400" marR="0" rtl="0" algn="l">
              <a:lnSpc>
                <a:spcPct val="110000"/>
              </a:lnSpc>
              <a:spcBef>
                <a:spcPts val="120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7pPr>
            <a:lvl8pPr indent="-371475" lvl="7" marL="3657600" marR="0" rtl="0" algn="l">
              <a:lnSpc>
                <a:spcPct val="110000"/>
              </a:lnSpc>
              <a:spcBef>
                <a:spcPts val="120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8pPr>
            <a:lvl9pPr indent="-371475" lvl="8" marL="4114800" marR="0" rtl="0" algn="l">
              <a:lnSpc>
                <a:spcPct val="110000"/>
              </a:lnSpc>
              <a:spcBef>
                <a:spcPts val="1200"/>
              </a:spcBef>
              <a:spcAft>
                <a:spcPts val="1200"/>
              </a:spcAft>
              <a:buClr>
                <a:schemeClr val="dk1"/>
              </a:buClr>
              <a:buSzPts val="2250"/>
              <a:buFont typeface="Arial"/>
              <a:buChar char="•"/>
              <a:defRPr b="0" i="0" sz="225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
  <p:cSld name="Title and Two Column">
    <p:spTree>
      <p:nvGrpSpPr>
        <p:cNvPr id="19" name="Shape 19"/>
        <p:cNvGrpSpPr/>
        <p:nvPr/>
      </p:nvGrpSpPr>
      <p:grpSpPr>
        <a:xfrm>
          <a:off x="0" y="0"/>
          <a:ext cx="0" cy="0"/>
          <a:chOff x="0" y="0"/>
          <a:chExt cx="0" cy="0"/>
        </a:xfrm>
      </p:grpSpPr>
      <p:sp>
        <p:nvSpPr>
          <p:cNvPr id="20" name="Google Shape;20;p6"/>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3300"/>
              <a:buFont typeface="Arial"/>
              <a:buNone/>
              <a:defRPr b="1" i="0" sz="3300" u="none" cap="none" strike="noStrike">
                <a:solidFill>
                  <a:schemeClr val="dk1"/>
                </a:solidFill>
                <a:latin typeface="Arial"/>
                <a:ea typeface="Arial"/>
                <a:cs typeface="Arial"/>
                <a:sym typeface="Arial"/>
              </a:defRPr>
            </a:lvl1pPr>
            <a:lvl2pPr lvl="1"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2pPr>
            <a:lvl3pPr lvl="2"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3pPr>
            <a:lvl4pPr lvl="3"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4pPr>
            <a:lvl5pPr lvl="4"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5pPr>
            <a:lvl6pPr lvl="5"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6pPr>
            <a:lvl7pPr lvl="6"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7pPr>
            <a:lvl8pPr lvl="7"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8pPr>
            <a:lvl9pPr lvl="8"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9pPr>
          </a:lstStyle>
          <a:p/>
        </p:txBody>
      </p:sp>
      <p:sp>
        <p:nvSpPr>
          <p:cNvPr id="21" name="Google Shape;21;p6"/>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361950" lvl="0" marL="457200" marR="0" rtl="0" algn="l">
              <a:lnSpc>
                <a:spcPct val="110000"/>
              </a:lnSpc>
              <a:spcBef>
                <a:spcPts val="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1pPr>
            <a:lvl2pPr indent="-361950" lvl="1" marL="914400" marR="0" rtl="0" algn="l">
              <a:lnSpc>
                <a:spcPct val="110000"/>
              </a:lnSpc>
              <a:spcBef>
                <a:spcPts val="12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2pPr>
            <a:lvl3pPr indent="-361950" lvl="2" marL="1371600" marR="0" rtl="0" algn="l">
              <a:lnSpc>
                <a:spcPct val="110000"/>
              </a:lnSpc>
              <a:spcBef>
                <a:spcPts val="12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3pPr>
            <a:lvl4pPr indent="-361950" lvl="3" marL="1828800" marR="0" rtl="0" algn="l">
              <a:lnSpc>
                <a:spcPct val="110000"/>
              </a:lnSpc>
              <a:spcBef>
                <a:spcPts val="12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4pPr>
            <a:lvl5pPr indent="-361950" lvl="4" marL="2286000" marR="0" rtl="0" algn="l">
              <a:lnSpc>
                <a:spcPct val="110000"/>
              </a:lnSpc>
              <a:spcBef>
                <a:spcPts val="12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5pPr>
            <a:lvl6pPr indent="-361950" lvl="5" marL="2743200" marR="0" rtl="0" algn="l">
              <a:lnSpc>
                <a:spcPct val="110000"/>
              </a:lnSpc>
              <a:spcBef>
                <a:spcPts val="12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6pPr>
            <a:lvl7pPr indent="-361950" lvl="6" marL="3200400" marR="0" rtl="0" algn="l">
              <a:lnSpc>
                <a:spcPct val="110000"/>
              </a:lnSpc>
              <a:spcBef>
                <a:spcPts val="12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7pPr>
            <a:lvl8pPr indent="-361950" lvl="7" marL="3657600" marR="0" rtl="0" algn="l">
              <a:lnSpc>
                <a:spcPct val="110000"/>
              </a:lnSpc>
              <a:spcBef>
                <a:spcPts val="12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8pPr>
            <a:lvl9pPr indent="-361950" lvl="8" marL="4114800" marR="0" rtl="0" algn="l">
              <a:lnSpc>
                <a:spcPct val="110000"/>
              </a:lnSpc>
              <a:spcBef>
                <a:spcPts val="1200"/>
              </a:spcBef>
              <a:spcAft>
                <a:spcPts val="1200"/>
              </a:spcAft>
              <a:buClr>
                <a:schemeClr val="dk1"/>
              </a:buClr>
              <a:buSzPts val="2100"/>
              <a:buFont typeface="Arial"/>
              <a:buChar char="•"/>
              <a:defRPr b="0" i="0" sz="2100" u="none" cap="none" strike="noStrike">
                <a:solidFill>
                  <a:schemeClr val="dk1"/>
                </a:solidFill>
                <a:latin typeface="Arial"/>
                <a:ea typeface="Arial"/>
                <a:cs typeface="Arial"/>
                <a:sym typeface="Arial"/>
              </a:defRPr>
            </a:lvl9pPr>
          </a:lstStyle>
          <a:p/>
        </p:txBody>
      </p:sp>
      <p:sp>
        <p:nvSpPr>
          <p:cNvPr id="22" name="Google Shape;22;p6"/>
          <p:cNvSpPr txBox="1"/>
          <p:nvPr>
            <p:ph idx="2" type="body"/>
          </p:nvPr>
        </p:nvSpPr>
        <p:spPr>
          <a:xfrm>
            <a:off x="6477000" y="1905000"/>
            <a:ext cx="5029200" cy="4267200"/>
          </a:xfrm>
          <a:prstGeom prst="rect">
            <a:avLst/>
          </a:prstGeom>
          <a:noFill/>
          <a:ln>
            <a:noFill/>
          </a:ln>
        </p:spPr>
        <p:txBody>
          <a:bodyPr anchorCtr="0" anchor="t" bIns="0" lIns="0" spcFirstLastPara="1" rIns="0" wrap="square" tIns="0">
            <a:normAutofit/>
          </a:bodyPr>
          <a:lstStyle>
            <a:lvl1pPr indent="-361950" lvl="0" marL="457200" marR="0" rtl="0" algn="l">
              <a:lnSpc>
                <a:spcPct val="110000"/>
              </a:lnSpc>
              <a:spcBef>
                <a:spcPts val="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1pPr>
            <a:lvl2pPr indent="-361950" lvl="1" marL="914400" marR="0" rtl="0" algn="l">
              <a:lnSpc>
                <a:spcPct val="110000"/>
              </a:lnSpc>
              <a:spcBef>
                <a:spcPts val="12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2pPr>
            <a:lvl3pPr indent="-361950" lvl="2" marL="1371600" marR="0" rtl="0" algn="l">
              <a:lnSpc>
                <a:spcPct val="110000"/>
              </a:lnSpc>
              <a:spcBef>
                <a:spcPts val="12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3pPr>
            <a:lvl4pPr indent="-361950" lvl="3" marL="1828800" marR="0" rtl="0" algn="l">
              <a:lnSpc>
                <a:spcPct val="110000"/>
              </a:lnSpc>
              <a:spcBef>
                <a:spcPts val="12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4pPr>
            <a:lvl5pPr indent="-361950" lvl="4" marL="2286000" marR="0" rtl="0" algn="l">
              <a:lnSpc>
                <a:spcPct val="110000"/>
              </a:lnSpc>
              <a:spcBef>
                <a:spcPts val="12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5pPr>
            <a:lvl6pPr indent="-361950" lvl="5" marL="2743200" marR="0" rtl="0" algn="l">
              <a:lnSpc>
                <a:spcPct val="110000"/>
              </a:lnSpc>
              <a:spcBef>
                <a:spcPts val="12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6pPr>
            <a:lvl7pPr indent="-361950" lvl="6" marL="3200400" marR="0" rtl="0" algn="l">
              <a:lnSpc>
                <a:spcPct val="110000"/>
              </a:lnSpc>
              <a:spcBef>
                <a:spcPts val="12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7pPr>
            <a:lvl8pPr indent="-361950" lvl="7" marL="3657600" marR="0" rtl="0" algn="l">
              <a:lnSpc>
                <a:spcPct val="110000"/>
              </a:lnSpc>
              <a:spcBef>
                <a:spcPts val="12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8pPr>
            <a:lvl9pPr indent="-361950" lvl="8" marL="4114800" marR="0" rtl="0" algn="l">
              <a:lnSpc>
                <a:spcPct val="110000"/>
              </a:lnSpc>
              <a:spcBef>
                <a:spcPts val="1200"/>
              </a:spcBef>
              <a:spcAft>
                <a:spcPts val="1200"/>
              </a:spcAft>
              <a:buClr>
                <a:schemeClr val="dk1"/>
              </a:buClr>
              <a:buSzPts val="2100"/>
              <a:buFont typeface="Arial"/>
              <a:buChar char="•"/>
              <a:defRPr b="0" i="0" sz="21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One Column">
  <p:cSld name="Title and One Column">
    <p:spTree>
      <p:nvGrpSpPr>
        <p:cNvPr id="23" name="Shape 23"/>
        <p:cNvGrpSpPr/>
        <p:nvPr/>
      </p:nvGrpSpPr>
      <p:grpSpPr>
        <a:xfrm>
          <a:off x="0" y="0"/>
          <a:ext cx="0" cy="0"/>
          <a:chOff x="0" y="0"/>
          <a:chExt cx="0" cy="0"/>
        </a:xfrm>
      </p:grpSpPr>
      <p:sp>
        <p:nvSpPr>
          <p:cNvPr id="24" name="Google Shape;24;p7"/>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3300"/>
              <a:buFont typeface="Arial"/>
              <a:buNone/>
              <a:defRPr b="1" i="0" sz="3300" u="none" cap="none" strike="noStrike">
                <a:solidFill>
                  <a:schemeClr val="dk1"/>
                </a:solidFill>
                <a:latin typeface="Arial"/>
                <a:ea typeface="Arial"/>
                <a:cs typeface="Arial"/>
                <a:sym typeface="Arial"/>
              </a:defRPr>
            </a:lvl1pPr>
            <a:lvl2pPr lvl="1"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2pPr>
            <a:lvl3pPr lvl="2"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3pPr>
            <a:lvl4pPr lvl="3"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4pPr>
            <a:lvl5pPr lvl="4"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5pPr>
            <a:lvl6pPr lvl="5"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6pPr>
            <a:lvl7pPr lvl="6"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7pPr>
            <a:lvl8pPr lvl="7"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8pPr>
            <a:lvl9pPr lvl="8"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9pPr>
          </a:lstStyle>
          <a:p/>
        </p:txBody>
      </p:sp>
      <p:sp>
        <p:nvSpPr>
          <p:cNvPr id="25" name="Google Shape;25;p7"/>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371475" lvl="0" marL="457200" marR="0" rtl="0" algn="l">
              <a:lnSpc>
                <a:spcPct val="110000"/>
              </a:lnSpc>
              <a:spcBef>
                <a:spcPts val="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1pPr>
            <a:lvl2pPr indent="-371475" lvl="1" marL="914400" marR="0" rtl="0" algn="l">
              <a:lnSpc>
                <a:spcPct val="110000"/>
              </a:lnSpc>
              <a:spcBef>
                <a:spcPts val="120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2pPr>
            <a:lvl3pPr indent="-371475" lvl="2" marL="1371600" marR="0" rtl="0" algn="l">
              <a:lnSpc>
                <a:spcPct val="110000"/>
              </a:lnSpc>
              <a:spcBef>
                <a:spcPts val="120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3pPr>
            <a:lvl4pPr indent="-371475" lvl="3" marL="1828800" marR="0" rtl="0" algn="l">
              <a:lnSpc>
                <a:spcPct val="110000"/>
              </a:lnSpc>
              <a:spcBef>
                <a:spcPts val="120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4pPr>
            <a:lvl5pPr indent="-371475" lvl="4" marL="2286000" marR="0" rtl="0" algn="l">
              <a:lnSpc>
                <a:spcPct val="110000"/>
              </a:lnSpc>
              <a:spcBef>
                <a:spcPts val="120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5pPr>
            <a:lvl6pPr indent="-371475" lvl="5" marL="2743200" marR="0" rtl="0" algn="l">
              <a:lnSpc>
                <a:spcPct val="110000"/>
              </a:lnSpc>
              <a:spcBef>
                <a:spcPts val="120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6pPr>
            <a:lvl7pPr indent="-371475" lvl="6" marL="3200400" marR="0" rtl="0" algn="l">
              <a:lnSpc>
                <a:spcPct val="110000"/>
              </a:lnSpc>
              <a:spcBef>
                <a:spcPts val="120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7pPr>
            <a:lvl8pPr indent="-371475" lvl="7" marL="3657600" marR="0" rtl="0" algn="l">
              <a:lnSpc>
                <a:spcPct val="110000"/>
              </a:lnSpc>
              <a:spcBef>
                <a:spcPts val="120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8pPr>
            <a:lvl9pPr indent="-371475" lvl="8" marL="4114800" marR="0" rtl="0" algn="l">
              <a:lnSpc>
                <a:spcPct val="110000"/>
              </a:lnSpc>
              <a:spcBef>
                <a:spcPts val="1200"/>
              </a:spcBef>
              <a:spcAft>
                <a:spcPts val="1200"/>
              </a:spcAft>
              <a:buClr>
                <a:schemeClr val="dk1"/>
              </a:buClr>
              <a:buSzPts val="2250"/>
              <a:buFont typeface="Arial"/>
              <a:buChar char="•"/>
              <a:defRPr b="0" i="0" sz="2250" u="none" cap="none" strike="noStrike">
                <a:solidFill>
                  <a:schemeClr val="dk1"/>
                </a:solidFill>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rc.yieldshield.ai"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6"/>
        </a:solidFill>
      </p:bgPr>
    </p:bg>
    <p:spTree>
      <p:nvGrpSpPr>
        <p:cNvPr id="30" name="Shape 30"/>
        <p:cNvGrpSpPr/>
        <p:nvPr/>
      </p:nvGrpSpPr>
      <p:grpSpPr>
        <a:xfrm>
          <a:off x="0" y="0"/>
          <a:ext cx="0" cy="0"/>
          <a:chOff x="0" y="0"/>
          <a:chExt cx="0" cy="0"/>
        </a:xfrm>
      </p:grpSpPr>
      <p:sp>
        <p:nvSpPr>
          <p:cNvPr id="31" name="Google Shape;31;p8"/>
          <p:cNvSpPr/>
          <p:nvPr/>
        </p:nvSpPr>
        <p:spPr>
          <a:xfrm>
            <a:off x="571500" y="285750"/>
            <a:ext cx="952500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350">
                <a:solidFill>
                  <a:srgbClr val="193D31"/>
                </a:solidFill>
                <a:latin typeface="Arial"/>
                <a:ea typeface="Arial"/>
                <a:cs typeface="Arial"/>
                <a:sym typeface="Arial"/>
              </a:rPr>
              <a:t>YIELDSHIELD ARC</a:t>
            </a:r>
            <a:endParaRPr/>
          </a:p>
        </p:txBody>
      </p:sp>
      <p:sp>
        <p:nvSpPr>
          <p:cNvPr id="32" name="Google Shape;32;p8"/>
          <p:cNvSpPr/>
          <p:nvPr/>
        </p:nvSpPr>
        <p:spPr>
          <a:xfrm>
            <a:off x="571500" y="742950"/>
            <a:ext cx="11049000" cy="28575"/>
          </a:xfrm>
          <a:prstGeom prst="rect">
            <a:avLst/>
          </a:prstGeom>
          <a:solidFill>
            <a:srgbClr val="EC674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8"/>
          <p:cNvSpPr/>
          <p:nvPr/>
        </p:nvSpPr>
        <p:spPr>
          <a:xfrm>
            <a:off x="571500" y="1238250"/>
            <a:ext cx="7620000" cy="14763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4125">
                <a:solidFill>
                  <a:srgbClr val="193D31"/>
                </a:solidFill>
              </a:rPr>
              <a:t>USDC-backed protection</a:t>
            </a:r>
            <a:endParaRPr b="1" sz="4125">
              <a:solidFill>
                <a:srgbClr val="193D31"/>
              </a:solidFill>
            </a:endParaRPr>
          </a:p>
          <a:p>
            <a:pPr indent="0" lvl="0" marL="0" marR="0" rtl="0" algn="l">
              <a:lnSpc>
                <a:spcPct val="110000"/>
              </a:lnSpc>
              <a:spcBef>
                <a:spcPts val="0"/>
              </a:spcBef>
              <a:spcAft>
                <a:spcPts val="0"/>
              </a:spcAft>
              <a:buNone/>
            </a:pPr>
            <a:r>
              <a:rPr b="1" lang="en-US" sz="4125">
                <a:solidFill>
                  <a:srgbClr val="193D31"/>
                </a:solidFill>
              </a:rPr>
              <a:t>for EURC and cirBTC</a:t>
            </a:r>
            <a:endParaRPr b="1" sz="4125">
              <a:solidFill>
                <a:srgbClr val="193D31"/>
              </a:solidFill>
            </a:endParaRPr>
          </a:p>
        </p:txBody>
      </p:sp>
      <p:sp>
        <p:nvSpPr>
          <p:cNvPr id="34" name="Google Shape;34;p8"/>
          <p:cNvSpPr/>
          <p:nvPr/>
        </p:nvSpPr>
        <p:spPr>
          <a:xfrm>
            <a:off x="571500" y="3219450"/>
            <a:ext cx="7239000" cy="3810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2100">
                <a:solidFill>
                  <a:srgbClr val="193D31"/>
                </a:solidFill>
              </a:rPr>
              <a:t>Built on Arc testnet</a:t>
            </a:r>
            <a:endParaRPr b="1" sz="2100">
              <a:solidFill>
                <a:srgbClr val="193D31"/>
              </a:solidFill>
            </a:endParaRPr>
          </a:p>
        </p:txBody>
      </p:sp>
      <p:sp>
        <p:nvSpPr>
          <p:cNvPr id="35" name="Google Shape;35;p8"/>
          <p:cNvSpPr/>
          <p:nvPr/>
        </p:nvSpPr>
        <p:spPr>
          <a:xfrm>
            <a:off x="571500" y="3676650"/>
            <a:ext cx="6953400" cy="8574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2250">
                <a:solidFill>
                  <a:srgbClr val="5F7468"/>
                </a:solidFill>
              </a:rPr>
              <a:t>A fixed USDC claim, funded reserves and a choice of exits.</a:t>
            </a:r>
            <a:endParaRPr sz="2250">
              <a:solidFill>
                <a:srgbClr val="5F7468"/>
              </a:solidFill>
            </a:endParaRPr>
          </a:p>
        </p:txBody>
      </p:sp>
      <p:sp>
        <p:nvSpPr>
          <p:cNvPr id="36" name="Google Shape;36;p8"/>
          <p:cNvSpPr/>
          <p:nvPr/>
        </p:nvSpPr>
        <p:spPr>
          <a:xfrm>
            <a:off x="571500" y="5048250"/>
            <a:ext cx="7143900" cy="7620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1950">
                <a:solidFill>
                  <a:srgbClr val="5F7468"/>
                </a:solidFill>
              </a:rPr>
              <a:t>Circle USDC powers the claim, reserve and gas</a:t>
            </a:r>
            <a:endParaRPr sz="1950">
              <a:solidFill>
                <a:srgbClr val="5F7468"/>
              </a:solidFill>
            </a:endParaRPr>
          </a:p>
        </p:txBody>
      </p:sp>
      <p:sp>
        <p:nvSpPr>
          <p:cNvPr id="37" name="Google Shape;37;p8"/>
          <p:cNvSpPr/>
          <p:nvPr/>
        </p:nvSpPr>
        <p:spPr>
          <a:xfrm>
            <a:off x="571500" y="5829300"/>
            <a:ext cx="7239000" cy="3810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1800" u="sng">
                <a:solidFill>
                  <a:schemeClr val="hlink"/>
                </a:solidFill>
                <a:hlinkClick r:id="rId3"/>
              </a:rPr>
              <a:t>arc.yieldshield.ai</a:t>
            </a:r>
            <a:endParaRPr b="1" sz="1800">
              <a:solidFill>
                <a:srgbClr val="193D31"/>
              </a:solidFill>
            </a:endParaRPr>
          </a:p>
        </p:txBody>
      </p:sp>
      <p:sp>
        <p:nvSpPr>
          <p:cNvPr id="38" name="Google Shape;38;p8"/>
          <p:cNvSpPr/>
          <p:nvPr/>
        </p:nvSpPr>
        <p:spPr>
          <a:xfrm>
            <a:off x="8572500" y="1619250"/>
            <a:ext cx="3048000" cy="9525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4275">
                <a:solidFill>
                  <a:srgbClr val="EC674F"/>
                </a:solidFill>
              </a:rPr>
              <a:t>$16,000</a:t>
            </a:r>
            <a:endParaRPr b="1" sz="4275">
              <a:solidFill>
                <a:srgbClr val="EC674F"/>
              </a:solidFill>
            </a:endParaRPr>
          </a:p>
        </p:txBody>
      </p:sp>
      <p:sp>
        <p:nvSpPr>
          <p:cNvPr id="39" name="Google Shape;39;p8"/>
          <p:cNvSpPr/>
          <p:nvPr/>
        </p:nvSpPr>
        <p:spPr>
          <a:xfrm>
            <a:off x="8572500" y="2762250"/>
            <a:ext cx="3048000" cy="23814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2100">
                <a:solidFill>
                  <a:srgbClr val="193D31"/>
                </a:solidFill>
              </a:rPr>
              <a:t>Grant request</a:t>
            </a:r>
            <a:endParaRPr sz="2100">
              <a:solidFill>
                <a:srgbClr val="193D31"/>
              </a:solidFill>
            </a:endParaRPr>
          </a:p>
          <a:p>
            <a:pPr indent="0" lvl="0" marL="0" marR="0" rtl="0" algn="l">
              <a:lnSpc>
                <a:spcPct val="110000"/>
              </a:lnSpc>
              <a:spcBef>
                <a:spcPts val="0"/>
              </a:spcBef>
              <a:spcAft>
                <a:spcPts val="0"/>
              </a:spcAft>
              <a:buNone/>
            </a:pPr>
            <a:r>
              <a:t/>
            </a:r>
            <a:endParaRPr sz="2100">
              <a:solidFill>
                <a:srgbClr val="193D31"/>
              </a:solidFill>
            </a:endParaRPr>
          </a:p>
          <a:p>
            <a:pPr indent="0" lvl="0" marL="0" marR="0" rtl="0" algn="l">
              <a:lnSpc>
                <a:spcPct val="110000"/>
              </a:lnSpc>
              <a:spcBef>
                <a:spcPts val="0"/>
              </a:spcBef>
              <a:spcAft>
                <a:spcPts val="0"/>
              </a:spcAft>
              <a:buNone/>
            </a:pPr>
            <a:r>
              <a:rPr lang="en-US" sz="2100">
                <a:solidFill>
                  <a:srgbClr val="193D31"/>
                </a:solidFill>
              </a:rPr>
              <a:t>$11,000 core work</a:t>
            </a:r>
            <a:endParaRPr sz="2100">
              <a:solidFill>
                <a:srgbClr val="193D31"/>
              </a:solidFill>
            </a:endParaRPr>
          </a:p>
          <a:p>
            <a:pPr indent="0" lvl="0" marL="0" marR="0" rtl="0" algn="l">
              <a:lnSpc>
                <a:spcPct val="110000"/>
              </a:lnSpc>
              <a:spcBef>
                <a:spcPts val="0"/>
              </a:spcBef>
              <a:spcAft>
                <a:spcPts val="0"/>
              </a:spcAft>
              <a:buNone/>
            </a:pPr>
            <a:r>
              <a:rPr lang="en-US" sz="2100">
                <a:solidFill>
                  <a:srgbClr val="193D31"/>
                </a:solidFill>
              </a:rPr>
              <a:t>$5,000 conditional</a:t>
            </a:r>
            <a:endParaRPr sz="2100">
              <a:solidFill>
                <a:srgbClr val="193D31"/>
              </a:solidFill>
            </a:endParaRPr>
          </a:p>
          <a:p>
            <a:pPr indent="0" lvl="0" marL="0" marR="0" rtl="0" algn="l">
              <a:lnSpc>
                <a:spcPct val="110000"/>
              </a:lnSpc>
              <a:spcBef>
                <a:spcPts val="0"/>
              </a:spcBef>
              <a:spcAft>
                <a:spcPts val="0"/>
              </a:spcAft>
              <a:buNone/>
            </a:pPr>
            <a:r>
              <a:rPr lang="en-US" sz="2100">
                <a:solidFill>
                  <a:srgbClr val="193D31"/>
                </a:solidFill>
              </a:rPr>
              <a:t>mainnet release</a:t>
            </a:r>
            <a:endParaRPr sz="2100">
              <a:solidFill>
                <a:srgbClr val="193D31"/>
              </a:solidFill>
            </a:endParaRPr>
          </a:p>
        </p:txBody>
      </p:sp>
      <p:sp>
        <p:nvSpPr>
          <p:cNvPr id="40" name="Google Shape;40;p8"/>
          <p:cNvSpPr/>
          <p:nvPr/>
        </p:nvSpPr>
        <p:spPr>
          <a:xfrm>
            <a:off x="571500" y="6457950"/>
            <a:ext cx="10191900" cy="2382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1125">
                <a:solidFill>
                  <a:srgbClr val="5F7468"/>
                </a:solidFill>
              </a:rPr>
              <a:t>Circle Developer Grant / 20 October 2026</a:t>
            </a:r>
            <a:endParaRPr sz="1125">
              <a:solidFill>
                <a:srgbClr val="5F7468"/>
              </a:solidFill>
            </a:endParaRPr>
          </a:p>
        </p:txBody>
      </p:sp>
      <p:sp>
        <p:nvSpPr>
          <p:cNvPr id="41" name="Google Shape;41;p8"/>
          <p:cNvSpPr/>
          <p:nvPr/>
        </p:nvSpPr>
        <p:spPr>
          <a:xfrm>
            <a:off x="11049000" y="6457950"/>
            <a:ext cx="5715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125">
                <a:solidFill>
                  <a:srgbClr val="5F7468"/>
                </a:solidFill>
                <a:latin typeface="Arial"/>
                <a:ea typeface="Arial"/>
                <a:cs typeface="Arial"/>
                <a:sym typeface="Arial"/>
              </a:rPr>
              <a:t>01</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6"/>
        </a:solidFill>
      </p:bgPr>
    </p:bg>
    <p:spTree>
      <p:nvGrpSpPr>
        <p:cNvPr id="46" name="Shape 46"/>
        <p:cNvGrpSpPr/>
        <p:nvPr/>
      </p:nvGrpSpPr>
      <p:grpSpPr>
        <a:xfrm>
          <a:off x="0" y="0"/>
          <a:ext cx="0" cy="0"/>
          <a:chOff x="0" y="0"/>
          <a:chExt cx="0" cy="0"/>
        </a:xfrm>
      </p:grpSpPr>
      <p:sp>
        <p:nvSpPr>
          <p:cNvPr id="47" name="Google Shape;47;p9"/>
          <p:cNvSpPr/>
          <p:nvPr/>
        </p:nvSpPr>
        <p:spPr>
          <a:xfrm>
            <a:off x="571500" y="285750"/>
            <a:ext cx="952500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350">
                <a:solidFill>
                  <a:srgbClr val="193D31"/>
                </a:solidFill>
                <a:latin typeface="Arial"/>
                <a:ea typeface="Arial"/>
                <a:cs typeface="Arial"/>
                <a:sym typeface="Arial"/>
              </a:rPr>
              <a:t>YIELDSHIELD ARC</a:t>
            </a:r>
            <a:endParaRPr/>
          </a:p>
        </p:txBody>
      </p:sp>
      <p:sp>
        <p:nvSpPr>
          <p:cNvPr id="48" name="Google Shape;48;p9"/>
          <p:cNvSpPr/>
          <p:nvPr/>
        </p:nvSpPr>
        <p:spPr>
          <a:xfrm>
            <a:off x="571500" y="742950"/>
            <a:ext cx="11049000" cy="28575"/>
          </a:xfrm>
          <a:prstGeom prst="rect">
            <a:avLst/>
          </a:prstGeom>
          <a:solidFill>
            <a:srgbClr val="EC674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9"/>
          <p:cNvSpPr/>
          <p:nvPr/>
        </p:nvSpPr>
        <p:spPr>
          <a:xfrm>
            <a:off x="571500" y="1047750"/>
            <a:ext cx="11049000" cy="8574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3150">
                <a:solidFill>
                  <a:srgbClr val="193D31"/>
                </a:solidFill>
              </a:rPr>
              <a:t>A choice for holders, a risk for providers</a:t>
            </a:r>
            <a:endParaRPr b="1" sz="3150">
              <a:solidFill>
                <a:srgbClr val="193D31"/>
              </a:solidFill>
            </a:endParaRPr>
          </a:p>
        </p:txBody>
      </p:sp>
      <p:sp>
        <p:nvSpPr>
          <p:cNvPr id="50" name="Google Shape;50;p9"/>
          <p:cNvSpPr/>
          <p:nvPr/>
        </p:nvSpPr>
        <p:spPr>
          <a:xfrm>
            <a:off x="571500" y="2333625"/>
            <a:ext cx="5095800" cy="4287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2400">
                <a:solidFill>
                  <a:srgbClr val="193D31"/>
                </a:solidFill>
              </a:rPr>
              <a:t>Asset holders</a:t>
            </a:r>
            <a:endParaRPr b="1" sz="2400">
              <a:solidFill>
                <a:srgbClr val="193D31"/>
              </a:solidFill>
            </a:endParaRPr>
          </a:p>
        </p:txBody>
      </p:sp>
      <p:sp>
        <p:nvSpPr>
          <p:cNvPr id="51" name="Google Shape;51;p9"/>
          <p:cNvSpPr/>
          <p:nvPr/>
        </p:nvSpPr>
        <p:spPr>
          <a:xfrm>
            <a:off x="571500" y="2933700"/>
            <a:ext cx="5095800" cy="19050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2025">
                <a:solidFill>
                  <a:srgbClr val="5F7468"/>
                </a:solidFill>
              </a:rPr>
              <a:t>Keep EUR or BTC exposure while setting a fixed exit value in USDC.</a:t>
            </a:r>
            <a:endParaRPr sz="2025">
              <a:solidFill>
                <a:srgbClr val="5F7468"/>
              </a:solidFill>
            </a:endParaRPr>
          </a:p>
          <a:p>
            <a:pPr indent="0" lvl="0" marL="0" marR="0" rtl="0" algn="l">
              <a:lnSpc>
                <a:spcPct val="110000"/>
              </a:lnSpc>
              <a:spcBef>
                <a:spcPts val="0"/>
              </a:spcBef>
              <a:spcAft>
                <a:spcPts val="0"/>
              </a:spcAft>
              <a:buNone/>
            </a:pPr>
            <a:r>
              <a:t/>
            </a:r>
            <a:endParaRPr sz="2025">
              <a:solidFill>
                <a:srgbClr val="5F7468"/>
              </a:solidFill>
            </a:endParaRPr>
          </a:p>
          <a:p>
            <a:pPr indent="0" lvl="0" marL="0" marR="0" rtl="0" algn="l">
              <a:lnSpc>
                <a:spcPct val="110000"/>
              </a:lnSpc>
              <a:spcBef>
                <a:spcPts val="0"/>
              </a:spcBef>
              <a:spcAft>
                <a:spcPts val="0"/>
              </a:spcAft>
              <a:buNone/>
            </a:pPr>
            <a:r>
              <a:rPr lang="en-US" sz="2025">
                <a:solidFill>
                  <a:srgbClr val="5F7468"/>
                </a:solidFill>
              </a:rPr>
              <a:t>Conventional hedges can need active pricing and specialist execution.</a:t>
            </a:r>
            <a:endParaRPr sz="2025">
              <a:solidFill>
                <a:srgbClr val="5F7468"/>
              </a:solidFill>
            </a:endParaRPr>
          </a:p>
        </p:txBody>
      </p:sp>
      <p:sp>
        <p:nvSpPr>
          <p:cNvPr id="52" name="Google Shape;52;p9"/>
          <p:cNvSpPr/>
          <p:nvPr/>
        </p:nvSpPr>
        <p:spPr>
          <a:xfrm>
            <a:off x="6429375" y="2333625"/>
            <a:ext cx="5095800" cy="4287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2400">
                <a:solidFill>
                  <a:srgbClr val="193D31"/>
                </a:solidFill>
              </a:rPr>
              <a:t>Capital providers</a:t>
            </a:r>
            <a:endParaRPr b="1" sz="2400">
              <a:solidFill>
                <a:srgbClr val="193D31"/>
              </a:solidFill>
            </a:endParaRPr>
          </a:p>
        </p:txBody>
      </p:sp>
      <p:sp>
        <p:nvSpPr>
          <p:cNvPr id="53" name="Google Shape;53;p9"/>
          <p:cNvSpPr/>
          <p:nvPr/>
        </p:nvSpPr>
        <p:spPr>
          <a:xfrm>
            <a:off x="6429375" y="2933700"/>
            <a:ext cx="5095800" cy="19050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2025">
                <a:solidFill>
                  <a:srgbClr val="5F7468"/>
                </a:solidFill>
              </a:rPr>
              <a:t>Commit USDC reserves to earn fees on realized gains.</a:t>
            </a:r>
            <a:endParaRPr sz="2025">
              <a:solidFill>
                <a:srgbClr val="5F7468"/>
              </a:solidFill>
            </a:endParaRPr>
          </a:p>
          <a:p>
            <a:pPr indent="0" lvl="0" marL="0" marR="0" rtl="0" algn="l">
              <a:lnSpc>
                <a:spcPct val="110000"/>
              </a:lnSpc>
              <a:spcBef>
                <a:spcPts val="0"/>
              </a:spcBef>
              <a:spcAft>
                <a:spcPts val="0"/>
              </a:spcAft>
              <a:buNone/>
            </a:pPr>
            <a:r>
              <a:t/>
            </a:r>
            <a:endParaRPr sz="2025">
              <a:solidFill>
                <a:srgbClr val="5F7468"/>
              </a:solidFill>
            </a:endParaRPr>
          </a:p>
          <a:p>
            <a:pPr indent="0" lvl="0" marL="0" marR="0" rtl="0" algn="l">
              <a:lnSpc>
                <a:spcPct val="110000"/>
              </a:lnSpc>
              <a:spcBef>
                <a:spcPts val="0"/>
              </a:spcBef>
              <a:spcAft>
                <a:spcPts val="0"/>
              </a:spcAft>
              <a:buNone/>
            </a:pPr>
            <a:r>
              <a:rPr lang="en-US" sz="2025">
                <a:solidFill>
                  <a:srgbClr val="5F7468"/>
                </a:solidFill>
              </a:rPr>
              <a:t>Receive the surrendered asset and bear its downside risk.</a:t>
            </a:r>
            <a:endParaRPr sz="2025">
              <a:solidFill>
                <a:srgbClr val="5F7468"/>
              </a:solidFill>
            </a:endParaRPr>
          </a:p>
        </p:txBody>
      </p:sp>
      <p:sp>
        <p:nvSpPr>
          <p:cNvPr id="54" name="Google Shape;54;p9"/>
          <p:cNvSpPr/>
          <p:nvPr/>
        </p:nvSpPr>
        <p:spPr>
          <a:xfrm>
            <a:off x="571500" y="5286375"/>
            <a:ext cx="1905000" cy="3810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1875">
                <a:solidFill>
                  <a:srgbClr val="193D31"/>
                </a:solidFill>
              </a:rPr>
              <a:t>First audience</a:t>
            </a:r>
            <a:endParaRPr b="1" sz="1875">
              <a:solidFill>
                <a:srgbClr val="193D31"/>
              </a:solidFill>
            </a:endParaRPr>
          </a:p>
        </p:txBody>
      </p:sp>
      <p:sp>
        <p:nvSpPr>
          <p:cNvPr id="55" name="Google Shape;55;p9"/>
          <p:cNvSpPr/>
          <p:nvPr/>
        </p:nvSpPr>
        <p:spPr>
          <a:xfrm>
            <a:off x="2762250" y="5286375"/>
            <a:ext cx="8763000" cy="7143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1875">
                <a:solidFill>
                  <a:srgbClr val="5F7468"/>
                </a:solidFill>
              </a:rPr>
              <a:t>Arc treasury, lending, wallet and agent builders in a controlled testnet pilot.</a:t>
            </a:r>
            <a:endParaRPr sz="1875">
              <a:solidFill>
                <a:srgbClr val="5F7468"/>
              </a:solidFill>
            </a:endParaRPr>
          </a:p>
        </p:txBody>
      </p:sp>
      <p:sp>
        <p:nvSpPr>
          <p:cNvPr id="56" name="Google Shape;56;p9"/>
          <p:cNvSpPr/>
          <p:nvPr/>
        </p:nvSpPr>
        <p:spPr>
          <a:xfrm>
            <a:off x="571500" y="6457950"/>
            <a:ext cx="10191900" cy="2382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1125">
                <a:solidFill>
                  <a:srgbClr val="5F7468"/>
                </a:solidFill>
              </a:rPr>
              <a:t>Arc testnet. Unaudited. Test tokens have no monetary value.</a:t>
            </a:r>
            <a:endParaRPr sz="1125">
              <a:solidFill>
                <a:srgbClr val="5F7468"/>
              </a:solidFill>
            </a:endParaRPr>
          </a:p>
        </p:txBody>
      </p:sp>
      <p:sp>
        <p:nvSpPr>
          <p:cNvPr id="57" name="Google Shape;57;p9"/>
          <p:cNvSpPr/>
          <p:nvPr/>
        </p:nvSpPr>
        <p:spPr>
          <a:xfrm>
            <a:off x="11049000" y="6457950"/>
            <a:ext cx="5715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125">
                <a:solidFill>
                  <a:srgbClr val="5F7468"/>
                </a:solidFill>
                <a:latin typeface="Arial"/>
                <a:ea typeface="Arial"/>
                <a:cs typeface="Arial"/>
                <a:sym typeface="Arial"/>
              </a:rPr>
              <a:t>02</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6"/>
        </a:solidFill>
      </p:bgPr>
    </p:bg>
    <p:spTree>
      <p:nvGrpSpPr>
        <p:cNvPr id="62" name="Shape 62"/>
        <p:cNvGrpSpPr/>
        <p:nvPr/>
      </p:nvGrpSpPr>
      <p:grpSpPr>
        <a:xfrm>
          <a:off x="0" y="0"/>
          <a:ext cx="0" cy="0"/>
          <a:chOff x="0" y="0"/>
          <a:chExt cx="0" cy="0"/>
        </a:xfrm>
      </p:grpSpPr>
      <p:sp>
        <p:nvSpPr>
          <p:cNvPr id="63" name="Google Shape;63;p10"/>
          <p:cNvSpPr/>
          <p:nvPr/>
        </p:nvSpPr>
        <p:spPr>
          <a:xfrm>
            <a:off x="571500" y="285750"/>
            <a:ext cx="952500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350">
                <a:solidFill>
                  <a:srgbClr val="193D31"/>
                </a:solidFill>
                <a:latin typeface="Arial"/>
                <a:ea typeface="Arial"/>
                <a:cs typeface="Arial"/>
                <a:sym typeface="Arial"/>
              </a:rPr>
              <a:t>YIELDSHIELD ARC</a:t>
            </a:r>
            <a:endParaRPr/>
          </a:p>
        </p:txBody>
      </p:sp>
      <p:sp>
        <p:nvSpPr>
          <p:cNvPr id="64" name="Google Shape;64;p10"/>
          <p:cNvSpPr/>
          <p:nvPr/>
        </p:nvSpPr>
        <p:spPr>
          <a:xfrm>
            <a:off x="571500" y="742950"/>
            <a:ext cx="11049000" cy="28575"/>
          </a:xfrm>
          <a:prstGeom prst="rect">
            <a:avLst/>
          </a:prstGeom>
          <a:solidFill>
            <a:srgbClr val="EC674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10"/>
          <p:cNvSpPr/>
          <p:nvPr/>
        </p:nvSpPr>
        <p:spPr>
          <a:xfrm>
            <a:off x="571500" y="1047750"/>
            <a:ext cx="11049000" cy="7620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3300">
                <a:solidFill>
                  <a:srgbClr val="193D31"/>
                </a:solidFill>
              </a:rPr>
              <a:t>The protection lifecycle</a:t>
            </a:r>
            <a:endParaRPr b="1" sz="3300">
              <a:solidFill>
                <a:srgbClr val="193D31"/>
              </a:solidFill>
            </a:endParaRPr>
          </a:p>
        </p:txBody>
      </p:sp>
      <p:sp>
        <p:nvSpPr>
          <p:cNvPr id="66" name="Google Shape;66;p10"/>
          <p:cNvSpPr/>
          <p:nvPr/>
        </p:nvSpPr>
        <p:spPr>
          <a:xfrm>
            <a:off x="571500" y="2190750"/>
            <a:ext cx="2286000" cy="3810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2100">
                <a:solidFill>
                  <a:srgbClr val="193D31"/>
                </a:solidFill>
              </a:rPr>
              <a:t>At entry</a:t>
            </a:r>
            <a:endParaRPr b="1" sz="2100">
              <a:solidFill>
                <a:srgbClr val="193D31"/>
              </a:solidFill>
            </a:endParaRPr>
          </a:p>
        </p:txBody>
      </p:sp>
      <p:sp>
        <p:nvSpPr>
          <p:cNvPr id="67" name="Google Shape;67;p10"/>
          <p:cNvSpPr/>
          <p:nvPr/>
        </p:nvSpPr>
        <p:spPr>
          <a:xfrm>
            <a:off x="3143250" y="2190750"/>
            <a:ext cx="8382000" cy="8574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2100">
                <a:solidFill>
                  <a:srgbClr val="5F7468"/>
                </a:solidFill>
              </a:rPr>
              <a:t>The oracle fixes the USDC claim. Providers reserve 150% of that amount.</a:t>
            </a:r>
            <a:endParaRPr sz="2100">
              <a:solidFill>
                <a:srgbClr val="5F7468"/>
              </a:solidFill>
            </a:endParaRPr>
          </a:p>
        </p:txBody>
      </p:sp>
      <p:sp>
        <p:nvSpPr>
          <p:cNvPr id="68" name="Google Shape;68;p10"/>
          <p:cNvSpPr/>
          <p:nvPr/>
        </p:nvSpPr>
        <p:spPr>
          <a:xfrm>
            <a:off x="571500" y="3429000"/>
            <a:ext cx="5095800" cy="4287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2400">
                <a:solidFill>
                  <a:srgbClr val="193D31"/>
                </a:solidFill>
              </a:rPr>
              <a:t>Keep the asset</a:t>
            </a:r>
            <a:endParaRPr b="1" sz="2400">
              <a:solidFill>
                <a:srgbClr val="193D31"/>
              </a:solidFill>
            </a:endParaRPr>
          </a:p>
        </p:txBody>
      </p:sp>
      <p:sp>
        <p:nvSpPr>
          <p:cNvPr id="69" name="Google Shape;69;p10"/>
          <p:cNvSpPr/>
          <p:nvPr/>
        </p:nvSpPr>
        <p:spPr>
          <a:xfrm>
            <a:off x="571500" y="4029075"/>
            <a:ext cx="5095800" cy="12384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2025">
                <a:solidFill>
                  <a:srgbClr val="5F7468"/>
                </a:solidFill>
              </a:rPr>
              <a:t>Pay 12% of realized gain only.</a:t>
            </a:r>
            <a:endParaRPr sz="2025">
              <a:solidFill>
                <a:srgbClr val="5F7468"/>
              </a:solidFill>
            </a:endParaRPr>
          </a:p>
          <a:p>
            <a:pPr indent="0" lvl="0" marL="0" marR="0" rtl="0" algn="l">
              <a:lnSpc>
                <a:spcPct val="110000"/>
              </a:lnSpc>
              <a:spcBef>
                <a:spcPts val="0"/>
              </a:spcBef>
              <a:spcAft>
                <a:spcPts val="0"/>
              </a:spcAft>
              <a:buNone/>
            </a:pPr>
            <a:r>
              <a:rPr lang="en-US" sz="2025">
                <a:solidFill>
                  <a:srgbClr val="5F7468"/>
                </a:solidFill>
              </a:rPr>
              <a:t>10% goes to providers, 1% to the creator and 1% to the protocol.</a:t>
            </a:r>
            <a:endParaRPr sz="2025">
              <a:solidFill>
                <a:srgbClr val="5F7468"/>
              </a:solidFill>
            </a:endParaRPr>
          </a:p>
        </p:txBody>
      </p:sp>
      <p:sp>
        <p:nvSpPr>
          <p:cNvPr id="70" name="Google Shape;70;p10"/>
          <p:cNvSpPr/>
          <p:nvPr/>
        </p:nvSpPr>
        <p:spPr>
          <a:xfrm>
            <a:off x="6429375" y="3429000"/>
            <a:ext cx="5095800" cy="4287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2400">
                <a:solidFill>
                  <a:srgbClr val="193D31"/>
                </a:solidFill>
              </a:rPr>
              <a:t>Take the USDC claim</a:t>
            </a:r>
            <a:endParaRPr b="1" sz="2400">
              <a:solidFill>
                <a:srgbClr val="193D31"/>
              </a:solidFill>
            </a:endParaRPr>
          </a:p>
        </p:txBody>
      </p:sp>
      <p:sp>
        <p:nvSpPr>
          <p:cNvPr id="71" name="Google Shape;71;p10"/>
          <p:cNvSpPr/>
          <p:nvPr/>
        </p:nvSpPr>
        <p:spPr>
          <a:xfrm>
            <a:off x="6429375" y="4029075"/>
            <a:ext cx="5095800" cy="12384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2025">
                <a:solidFill>
                  <a:srgbClr val="5F7468"/>
                </a:solidFill>
              </a:rPr>
              <a:t>Surrender the asset for the fixed claim.</a:t>
            </a:r>
            <a:endParaRPr sz="2025">
              <a:solidFill>
                <a:srgbClr val="5F7468"/>
              </a:solidFill>
            </a:endParaRPr>
          </a:p>
          <a:p>
            <a:pPr indent="0" lvl="0" marL="0" marR="0" rtl="0" algn="l">
              <a:lnSpc>
                <a:spcPct val="110000"/>
              </a:lnSpc>
              <a:spcBef>
                <a:spcPts val="0"/>
              </a:spcBef>
              <a:spcAft>
                <a:spcPts val="0"/>
              </a:spcAft>
              <a:buNone/>
            </a:pPr>
            <a:r>
              <a:rPr lang="en-US" sz="2025">
                <a:solidFill>
                  <a:srgbClr val="5F7468"/>
                </a:solidFill>
              </a:rPr>
              <a:t>Providers receive the asset and bear its loss.</a:t>
            </a:r>
            <a:endParaRPr sz="2025">
              <a:solidFill>
                <a:srgbClr val="5F7468"/>
              </a:solidFill>
            </a:endParaRPr>
          </a:p>
        </p:txBody>
      </p:sp>
      <p:sp>
        <p:nvSpPr>
          <p:cNvPr id="72" name="Google Shape;72;p10"/>
          <p:cNvSpPr/>
          <p:nvPr/>
        </p:nvSpPr>
        <p:spPr>
          <a:xfrm>
            <a:off x="571500" y="6457950"/>
            <a:ext cx="10191900" cy="2382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1125">
                <a:solidFill>
                  <a:srgbClr val="5F7468"/>
                </a:solidFill>
              </a:rPr>
              <a:t>Arc testnet. Unaudited. Test tokens have no monetary value.</a:t>
            </a:r>
            <a:endParaRPr sz="1125">
              <a:solidFill>
                <a:srgbClr val="5F7468"/>
              </a:solidFill>
            </a:endParaRPr>
          </a:p>
        </p:txBody>
      </p:sp>
      <p:sp>
        <p:nvSpPr>
          <p:cNvPr id="73" name="Google Shape;73;p10"/>
          <p:cNvSpPr/>
          <p:nvPr/>
        </p:nvSpPr>
        <p:spPr>
          <a:xfrm>
            <a:off x="11049000" y="6457950"/>
            <a:ext cx="5715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125">
                <a:solidFill>
                  <a:srgbClr val="5F7468"/>
                </a:solidFill>
                <a:latin typeface="Arial"/>
                <a:ea typeface="Arial"/>
                <a:cs typeface="Arial"/>
                <a:sym typeface="Arial"/>
              </a:rPr>
              <a:t>03</a:t>
            </a:r>
            <a:endParaRPr/>
          </a:p>
        </p:txBody>
      </p:sp>
      <p:sp>
        <p:nvSpPr>
          <p:cNvPr id="74" name="Google Shape;74;p10"/>
          <p:cNvSpPr txBox="1"/>
          <p:nvPr/>
        </p:nvSpPr>
        <p:spPr>
          <a:xfrm>
            <a:off x="571500" y="5619750"/>
            <a:ext cx="11049000" cy="5715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en-US" sz="1725">
                <a:solidFill>
                  <a:srgbClr val="5F7468"/>
                </a:solidFill>
              </a:rPr>
              <a:t>At maturity, anyone may settle. Remaining assets go to providers and holders claim USDC.</a:t>
            </a:r>
            <a:endParaRPr sz="1725">
              <a:solidFill>
                <a:srgbClr val="5F7468"/>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6"/>
        </a:solidFill>
      </p:bgPr>
    </p:bg>
    <p:spTree>
      <p:nvGrpSpPr>
        <p:cNvPr id="79" name="Shape 79"/>
        <p:cNvGrpSpPr/>
        <p:nvPr/>
      </p:nvGrpSpPr>
      <p:grpSpPr>
        <a:xfrm>
          <a:off x="0" y="0"/>
          <a:ext cx="0" cy="0"/>
          <a:chOff x="0" y="0"/>
          <a:chExt cx="0" cy="0"/>
        </a:xfrm>
      </p:grpSpPr>
      <p:sp>
        <p:nvSpPr>
          <p:cNvPr id="80" name="Google Shape;80;p11"/>
          <p:cNvSpPr/>
          <p:nvPr/>
        </p:nvSpPr>
        <p:spPr>
          <a:xfrm>
            <a:off x="571500" y="285750"/>
            <a:ext cx="952500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350">
                <a:solidFill>
                  <a:srgbClr val="193D31"/>
                </a:solidFill>
                <a:latin typeface="Arial"/>
                <a:ea typeface="Arial"/>
                <a:cs typeface="Arial"/>
                <a:sym typeface="Arial"/>
              </a:rPr>
              <a:t>YIELDSHIELD ARC</a:t>
            </a:r>
            <a:endParaRPr/>
          </a:p>
        </p:txBody>
      </p:sp>
      <p:sp>
        <p:nvSpPr>
          <p:cNvPr id="81" name="Google Shape;81;p11"/>
          <p:cNvSpPr/>
          <p:nvPr/>
        </p:nvSpPr>
        <p:spPr>
          <a:xfrm>
            <a:off x="571500" y="742950"/>
            <a:ext cx="11049000" cy="28575"/>
          </a:xfrm>
          <a:prstGeom prst="rect">
            <a:avLst/>
          </a:prstGeom>
          <a:solidFill>
            <a:srgbClr val="EC674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1"/>
          <p:cNvSpPr/>
          <p:nvPr/>
        </p:nvSpPr>
        <p:spPr>
          <a:xfrm>
            <a:off x="571500" y="1047750"/>
            <a:ext cx="11049000" cy="7620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3300">
                <a:solidFill>
                  <a:srgbClr val="193D31"/>
                </a:solidFill>
              </a:rPr>
              <a:t>Circle integrations</a:t>
            </a:r>
            <a:endParaRPr b="1" sz="3300">
              <a:solidFill>
                <a:srgbClr val="193D31"/>
              </a:solidFill>
            </a:endParaRPr>
          </a:p>
        </p:txBody>
      </p:sp>
      <p:sp>
        <p:nvSpPr>
          <p:cNvPr id="83" name="Google Shape;83;p11"/>
          <p:cNvSpPr/>
          <p:nvPr/>
        </p:nvSpPr>
        <p:spPr>
          <a:xfrm>
            <a:off x="571500" y="2238375"/>
            <a:ext cx="3238500" cy="5715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3600">
                <a:solidFill>
                  <a:srgbClr val="EC674F"/>
                </a:solidFill>
              </a:rPr>
              <a:t>USDC</a:t>
            </a:r>
            <a:endParaRPr b="1" sz="3600">
              <a:solidFill>
                <a:srgbClr val="EC674F"/>
              </a:solidFill>
            </a:endParaRPr>
          </a:p>
        </p:txBody>
      </p:sp>
      <p:sp>
        <p:nvSpPr>
          <p:cNvPr id="84" name="Google Shape;84;p11"/>
          <p:cNvSpPr/>
          <p:nvPr/>
        </p:nvSpPr>
        <p:spPr>
          <a:xfrm>
            <a:off x="571500" y="3000375"/>
            <a:ext cx="3238500" cy="17145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2025">
                <a:solidFill>
                  <a:srgbClr val="5F7468"/>
                </a:solidFill>
              </a:rPr>
              <a:t>Reserves and claims</a:t>
            </a:r>
            <a:endParaRPr sz="2025">
              <a:solidFill>
                <a:srgbClr val="5F7468"/>
              </a:solidFill>
            </a:endParaRPr>
          </a:p>
          <a:p>
            <a:pPr indent="0" lvl="0" marL="0" marR="0" rtl="0" algn="l">
              <a:lnSpc>
                <a:spcPct val="110000"/>
              </a:lnSpc>
              <a:spcBef>
                <a:spcPts val="0"/>
              </a:spcBef>
              <a:spcAft>
                <a:spcPts val="0"/>
              </a:spcAft>
              <a:buNone/>
            </a:pPr>
            <a:r>
              <a:rPr lang="en-US" sz="2025">
                <a:solidFill>
                  <a:srgbClr val="5F7468"/>
                </a:solidFill>
              </a:rPr>
              <a:t>6-decimal ERC-20 accounting</a:t>
            </a:r>
            <a:endParaRPr sz="2025">
              <a:solidFill>
                <a:srgbClr val="5F7468"/>
              </a:solidFill>
            </a:endParaRPr>
          </a:p>
          <a:p>
            <a:pPr indent="0" lvl="0" marL="0" marR="0" rtl="0" algn="l">
              <a:lnSpc>
                <a:spcPct val="110000"/>
              </a:lnSpc>
              <a:spcBef>
                <a:spcPts val="0"/>
              </a:spcBef>
              <a:spcAft>
                <a:spcPts val="0"/>
              </a:spcAft>
              <a:buNone/>
            </a:pPr>
            <a:r>
              <a:rPr lang="en-US" sz="2025">
                <a:solidFill>
                  <a:srgbClr val="5F7468"/>
                </a:solidFill>
              </a:rPr>
              <a:t>Gas on Arc</a:t>
            </a:r>
            <a:endParaRPr sz="2025">
              <a:solidFill>
                <a:srgbClr val="5F7468"/>
              </a:solidFill>
            </a:endParaRPr>
          </a:p>
        </p:txBody>
      </p:sp>
      <p:sp>
        <p:nvSpPr>
          <p:cNvPr id="85" name="Google Shape;85;p11"/>
          <p:cNvSpPr/>
          <p:nvPr/>
        </p:nvSpPr>
        <p:spPr>
          <a:xfrm>
            <a:off x="4476750" y="2238375"/>
            <a:ext cx="7048500" cy="5715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3600">
                <a:solidFill>
                  <a:srgbClr val="193D31"/>
                </a:solidFill>
              </a:rPr>
              <a:t>EURC + cirBTC</a:t>
            </a:r>
            <a:endParaRPr b="1" sz="3600">
              <a:solidFill>
                <a:srgbClr val="193D31"/>
              </a:solidFill>
            </a:endParaRPr>
          </a:p>
        </p:txBody>
      </p:sp>
      <p:sp>
        <p:nvSpPr>
          <p:cNvPr id="86" name="Google Shape;86;p11"/>
          <p:cNvSpPr/>
          <p:nvPr/>
        </p:nvSpPr>
        <p:spPr>
          <a:xfrm>
            <a:off x="4476750" y="3000375"/>
            <a:ext cx="7048500" cy="17145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2025">
                <a:solidFill>
                  <a:srgbClr val="5F7468"/>
                </a:solidFill>
              </a:rPr>
              <a:t>Canonical Circle testnet assets</a:t>
            </a:r>
            <a:endParaRPr sz="2025">
              <a:solidFill>
                <a:srgbClr val="5F7468"/>
              </a:solidFill>
            </a:endParaRPr>
          </a:p>
          <a:p>
            <a:pPr indent="0" lvl="0" marL="0" marR="0" rtl="0" algn="l">
              <a:lnSpc>
                <a:spcPct val="110000"/>
              </a:lnSpc>
              <a:spcBef>
                <a:spcPts val="0"/>
              </a:spcBef>
              <a:spcAft>
                <a:spcPts val="0"/>
              </a:spcAft>
              <a:buNone/>
            </a:pPr>
            <a:r>
              <a:rPr lang="en-US" sz="2025">
                <a:solidFill>
                  <a:srgbClr val="5F7468"/>
                </a:solidFill>
              </a:rPr>
              <a:t>EURC has 6 decimals. cirBTC has 8.</a:t>
            </a:r>
            <a:endParaRPr sz="2025">
              <a:solidFill>
                <a:srgbClr val="5F7468"/>
              </a:solidFill>
            </a:endParaRPr>
          </a:p>
          <a:p>
            <a:pPr indent="0" lvl="0" marL="0" marR="0" rtl="0" algn="l">
              <a:lnSpc>
                <a:spcPct val="110000"/>
              </a:lnSpc>
              <a:spcBef>
                <a:spcPts val="0"/>
              </a:spcBef>
              <a:spcAft>
                <a:spcPts val="0"/>
              </a:spcAft>
              <a:buNone/>
            </a:pPr>
            <a:r>
              <a:rPr lang="en-US" sz="2025">
                <a:solidFill>
                  <a:srgbClr val="5F7468"/>
                </a:solidFill>
              </a:rPr>
              <a:t>Chronicle prices EURC/USD against USDC/USD and CIRBTC/USDC.</a:t>
            </a:r>
            <a:endParaRPr sz="2025">
              <a:solidFill>
                <a:srgbClr val="5F7468"/>
              </a:solidFill>
            </a:endParaRPr>
          </a:p>
        </p:txBody>
      </p:sp>
      <p:sp>
        <p:nvSpPr>
          <p:cNvPr id="87" name="Google Shape;87;p11"/>
          <p:cNvSpPr/>
          <p:nvPr/>
        </p:nvSpPr>
        <p:spPr>
          <a:xfrm>
            <a:off x="571500" y="5286375"/>
            <a:ext cx="1905000" cy="3810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1875">
                <a:solidFill>
                  <a:srgbClr val="193D31"/>
                </a:solidFill>
              </a:rPr>
              <a:t>Grant work</a:t>
            </a:r>
            <a:endParaRPr b="1" sz="1875">
              <a:solidFill>
                <a:srgbClr val="193D31"/>
              </a:solidFill>
            </a:endParaRPr>
          </a:p>
        </p:txBody>
      </p:sp>
      <p:sp>
        <p:nvSpPr>
          <p:cNvPr id="88" name="Google Shape;88;p11"/>
          <p:cNvSpPr/>
          <p:nvPr/>
        </p:nvSpPr>
        <p:spPr>
          <a:xfrm>
            <a:off x="2762250" y="5238750"/>
            <a:ext cx="8763000" cy="9525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1875">
                <a:solidFill>
                  <a:srgbClr val="5F7468"/>
                </a:solidFill>
              </a:rPr>
              <a:t>App Kit Bridge exits to Ethereum Sepolia and Base Sepolia for both USDC and EURC. MCP tools prepare unsigned transactions.</a:t>
            </a:r>
            <a:endParaRPr sz="1875">
              <a:solidFill>
                <a:srgbClr val="5F7468"/>
              </a:solidFill>
            </a:endParaRPr>
          </a:p>
        </p:txBody>
      </p:sp>
      <p:sp>
        <p:nvSpPr>
          <p:cNvPr id="89" name="Google Shape;89;p11"/>
          <p:cNvSpPr/>
          <p:nvPr/>
        </p:nvSpPr>
        <p:spPr>
          <a:xfrm>
            <a:off x="571500" y="6457950"/>
            <a:ext cx="10191900" cy="2382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1125">
                <a:solidFill>
                  <a:srgbClr val="5F7468"/>
                </a:solidFill>
              </a:rPr>
              <a:t>Arc testnet. Unaudited. Test tokens have no monetary value.</a:t>
            </a:r>
            <a:endParaRPr sz="1125">
              <a:solidFill>
                <a:srgbClr val="5F7468"/>
              </a:solidFill>
            </a:endParaRPr>
          </a:p>
        </p:txBody>
      </p:sp>
      <p:sp>
        <p:nvSpPr>
          <p:cNvPr id="90" name="Google Shape;90;p11"/>
          <p:cNvSpPr/>
          <p:nvPr/>
        </p:nvSpPr>
        <p:spPr>
          <a:xfrm>
            <a:off x="11049000" y="6457950"/>
            <a:ext cx="5715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125">
                <a:solidFill>
                  <a:srgbClr val="5F7468"/>
                </a:solidFill>
                <a:latin typeface="Arial"/>
                <a:ea typeface="Arial"/>
                <a:cs typeface="Arial"/>
                <a:sym typeface="Arial"/>
              </a:rPr>
              <a:t>04</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6"/>
        </a:solidFill>
      </p:bgPr>
    </p:bg>
    <p:spTree>
      <p:nvGrpSpPr>
        <p:cNvPr id="95" name="Shape 95"/>
        <p:cNvGrpSpPr/>
        <p:nvPr/>
      </p:nvGrpSpPr>
      <p:grpSpPr>
        <a:xfrm>
          <a:off x="0" y="0"/>
          <a:ext cx="0" cy="0"/>
          <a:chOff x="0" y="0"/>
          <a:chExt cx="0" cy="0"/>
        </a:xfrm>
      </p:grpSpPr>
      <p:sp>
        <p:nvSpPr>
          <p:cNvPr id="96" name="Google Shape;96;p12"/>
          <p:cNvSpPr/>
          <p:nvPr/>
        </p:nvSpPr>
        <p:spPr>
          <a:xfrm>
            <a:off x="571500" y="285750"/>
            <a:ext cx="952500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350">
                <a:solidFill>
                  <a:srgbClr val="193D31"/>
                </a:solidFill>
                <a:latin typeface="Arial"/>
                <a:ea typeface="Arial"/>
                <a:cs typeface="Arial"/>
                <a:sym typeface="Arial"/>
              </a:rPr>
              <a:t>YIELDSHIELD ARC</a:t>
            </a:r>
            <a:endParaRPr/>
          </a:p>
        </p:txBody>
      </p:sp>
      <p:sp>
        <p:nvSpPr>
          <p:cNvPr id="97" name="Google Shape;97;p12"/>
          <p:cNvSpPr/>
          <p:nvPr/>
        </p:nvSpPr>
        <p:spPr>
          <a:xfrm>
            <a:off x="571500" y="742950"/>
            <a:ext cx="11049000" cy="28575"/>
          </a:xfrm>
          <a:prstGeom prst="rect">
            <a:avLst/>
          </a:prstGeom>
          <a:solidFill>
            <a:srgbClr val="EC674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12"/>
          <p:cNvSpPr/>
          <p:nvPr/>
        </p:nvSpPr>
        <p:spPr>
          <a:xfrm>
            <a:off x="571500" y="1047750"/>
            <a:ext cx="11049000" cy="7620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3300">
                <a:solidFill>
                  <a:srgbClr val="193D31"/>
                </a:solidFill>
              </a:rPr>
              <a:t>A working testnet foundation</a:t>
            </a:r>
            <a:endParaRPr b="1" sz="3300">
              <a:solidFill>
                <a:srgbClr val="193D31"/>
              </a:solidFill>
            </a:endParaRPr>
          </a:p>
        </p:txBody>
      </p:sp>
      <p:sp>
        <p:nvSpPr>
          <p:cNvPr id="99" name="Google Shape;99;p12"/>
          <p:cNvSpPr/>
          <p:nvPr/>
        </p:nvSpPr>
        <p:spPr>
          <a:xfrm>
            <a:off x="571500" y="2190750"/>
            <a:ext cx="3238500" cy="8097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3600">
                <a:solidFill>
                  <a:srgbClr val="EC674F"/>
                </a:solidFill>
              </a:rPr>
              <a:t>3 markets</a:t>
            </a:r>
            <a:endParaRPr b="1" sz="3600">
              <a:solidFill>
                <a:srgbClr val="EC674F"/>
              </a:solidFill>
            </a:endParaRPr>
          </a:p>
        </p:txBody>
      </p:sp>
      <p:sp>
        <p:nvSpPr>
          <p:cNvPr id="100" name="Google Shape;100;p12"/>
          <p:cNvSpPr/>
          <p:nvPr/>
        </p:nvSpPr>
        <p:spPr>
          <a:xfrm>
            <a:off x="571500" y="3143250"/>
            <a:ext cx="3238500" cy="13335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1950">
                <a:solidFill>
                  <a:srgbClr val="5F7468"/>
                </a:solidFill>
              </a:rPr>
              <a:t>EURC, cirBTC and a clearly labeled scenario market</a:t>
            </a:r>
            <a:endParaRPr sz="1950">
              <a:solidFill>
                <a:srgbClr val="5F7468"/>
              </a:solidFill>
            </a:endParaRPr>
          </a:p>
        </p:txBody>
      </p:sp>
      <p:sp>
        <p:nvSpPr>
          <p:cNvPr id="101" name="Google Shape;101;p12"/>
          <p:cNvSpPr/>
          <p:nvPr/>
        </p:nvSpPr>
        <p:spPr>
          <a:xfrm>
            <a:off x="4476750" y="2190750"/>
            <a:ext cx="7048500" cy="8097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3375">
                <a:solidFill>
                  <a:srgbClr val="193D31"/>
                </a:solidFill>
              </a:rPr>
              <a:t>8 deployment txs</a:t>
            </a:r>
            <a:endParaRPr b="1" sz="3375">
              <a:solidFill>
                <a:srgbClr val="193D31"/>
              </a:solidFill>
            </a:endParaRPr>
          </a:p>
        </p:txBody>
      </p:sp>
      <p:sp>
        <p:nvSpPr>
          <p:cNvPr id="102" name="Google Shape;102;p12"/>
          <p:cNvSpPr/>
          <p:nvPr/>
        </p:nvSpPr>
        <p:spPr>
          <a:xfrm>
            <a:off x="4476750" y="3143250"/>
            <a:ext cx="7048500" cy="20001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1950">
                <a:solidFill>
                  <a:srgbClr val="5F7468"/>
                </a:solidFill>
              </a:rPr>
              <a:t>Runtime code checked against our build, plus asset identities, wiring, terms, seeds and receipts.</a:t>
            </a:r>
            <a:endParaRPr sz="1950">
              <a:solidFill>
                <a:srgbClr val="5F7468"/>
              </a:solidFill>
            </a:endParaRPr>
          </a:p>
          <a:p>
            <a:pPr indent="0" lvl="0" marL="0" marR="0" rtl="0" algn="l">
              <a:lnSpc>
                <a:spcPct val="110000"/>
              </a:lnSpc>
              <a:spcBef>
                <a:spcPts val="0"/>
              </a:spcBef>
              <a:spcAft>
                <a:spcPts val="0"/>
              </a:spcAft>
              <a:buNone/>
            </a:pPr>
            <a:r>
              <a:t/>
            </a:r>
            <a:endParaRPr sz="1950">
              <a:solidFill>
                <a:srgbClr val="5F7468"/>
              </a:solidFill>
            </a:endParaRPr>
          </a:p>
          <a:p>
            <a:pPr indent="0" lvl="0" marL="0" marR="0" rtl="0" algn="l">
              <a:lnSpc>
                <a:spcPct val="110000"/>
              </a:lnSpc>
              <a:spcBef>
                <a:spcPts val="0"/>
              </a:spcBef>
              <a:spcAft>
                <a:spcPts val="0"/>
              </a:spcAft>
              <a:buNone/>
            </a:pPr>
            <a:r>
              <a:rPr lang="en-US" sz="1950">
                <a:solidFill>
                  <a:srgbClr val="5F7468"/>
                </a:solidFill>
              </a:rPr>
              <a:t>A separate scripted-wallet journey exercised provision, protection, both exits and redemption.</a:t>
            </a:r>
            <a:endParaRPr sz="1950">
              <a:solidFill>
                <a:srgbClr val="5F7468"/>
              </a:solidFill>
            </a:endParaRPr>
          </a:p>
        </p:txBody>
      </p:sp>
      <p:sp>
        <p:nvSpPr>
          <p:cNvPr id="103" name="Google Shape;103;p12"/>
          <p:cNvSpPr/>
          <p:nvPr/>
        </p:nvSpPr>
        <p:spPr>
          <a:xfrm>
            <a:off x="571500" y="5381625"/>
            <a:ext cx="2000100" cy="3810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1875">
                <a:solidFill>
                  <a:srgbClr val="193D31"/>
                </a:solidFill>
              </a:rPr>
              <a:t>Current limits</a:t>
            </a:r>
            <a:endParaRPr b="1" sz="1875">
              <a:solidFill>
                <a:srgbClr val="193D31"/>
              </a:solidFill>
            </a:endParaRPr>
          </a:p>
        </p:txBody>
      </p:sp>
      <p:sp>
        <p:nvSpPr>
          <p:cNvPr id="104" name="Google Shape;104;p12"/>
          <p:cNvSpPr/>
          <p:nvPr/>
        </p:nvSpPr>
        <p:spPr>
          <a:xfrm>
            <a:off x="2762250" y="5286375"/>
            <a:ext cx="8763000" cy="9525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1800">
                <a:solidFill>
                  <a:srgbClr val="5F7468"/>
                </a:solidFill>
              </a:rPr>
              <a:t>Testnet only. No users or revenue. No browser-wallet signing claimed. Deployment checks and 72 Foundry tests are not an audit.</a:t>
            </a:r>
            <a:endParaRPr sz="1800">
              <a:solidFill>
                <a:srgbClr val="5F7468"/>
              </a:solidFill>
            </a:endParaRPr>
          </a:p>
        </p:txBody>
      </p:sp>
      <p:sp>
        <p:nvSpPr>
          <p:cNvPr id="105" name="Google Shape;105;p12"/>
          <p:cNvSpPr/>
          <p:nvPr/>
        </p:nvSpPr>
        <p:spPr>
          <a:xfrm>
            <a:off x="571500" y="6457950"/>
            <a:ext cx="10191900" cy="2382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1125">
                <a:solidFill>
                  <a:srgbClr val="5F7468"/>
                </a:solidFill>
              </a:rPr>
              <a:t>Arc testnet. Unaudited. Test tokens have no monetary value.</a:t>
            </a:r>
            <a:endParaRPr sz="1125">
              <a:solidFill>
                <a:srgbClr val="5F7468"/>
              </a:solidFill>
            </a:endParaRPr>
          </a:p>
        </p:txBody>
      </p:sp>
      <p:sp>
        <p:nvSpPr>
          <p:cNvPr id="106" name="Google Shape;106;p12"/>
          <p:cNvSpPr/>
          <p:nvPr/>
        </p:nvSpPr>
        <p:spPr>
          <a:xfrm>
            <a:off x="11049000" y="6457950"/>
            <a:ext cx="5715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125">
                <a:solidFill>
                  <a:srgbClr val="5F7468"/>
                </a:solidFill>
                <a:latin typeface="Arial"/>
                <a:ea typeface="Arial"/>
                <a:cs typeface="Arial"/>
                <a:sym typeface="Arial"/>
              </a:rPr>
              <a:t>05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6"/>
        </a:solidFill>
      </p:bgPr>
    </p:bg>
    <p:spTree>
      <p:nvGrpSpPr>
        <p:cNvPr id="111" name="Shape 111"/>
        <p:cNvGrpSpPr/>
        <p:nvPr/>
      </p:nvGrpSpPr>
      <p:grpSpPr>
        <a:xfrm>
          <a:off x="0" y="0"/>
          <a:ext cx="0" cy="0"/>
          <a:chOff x="0" y="0"/>
          <a:chExt cx="0" cy="0"/>
        </a:xfrm>
      </p:grpSpPr>
      <p:sp>
        <p:nvSpPr>
          <p:cNvPr id="112" name="Google Shape;112;p13"/>
          <p:cNvSpPr/>
          <p:nvPr/>
        </p:nvSpPr>
        <p:spPr>
          <a:xfrm>
            <a:off x="571500" y="285750"/>
            <a:ext cx="952500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350">
                <a:solidFill>
                  <a:srgbClr val="193D31"/>
                </a:solidFill>
                <a:latin typeface="Arial"/>
                <a:ea typeface="Arial"/>
                <a:cs typeface="Arial"/>
                <a:sym typeface="Arial"/>
              </a:rPr>
              <a:t>YIELDSHIELD ARC</a:t>
            </a:r>
            <a:endParaRPr/>
          </a:p>
        </p:txBody>
      </p:sp>
      <p:sp>
        <p:nvSpPr>
          <p:cNvPr id="113" name="Google Shape;113;p13"/>
          <p:cNvSpPr/>
          <p:nvPr/>
        </p:nvSpPr>
        <p:spPr>
          <a:xfrm>
            <a:off x="571500" y="742950"/>
            <a:ext cx="11049000" cy="28575"/>
          </a:xfrm>
          <a:prstGeom prst="rect">
            <a:avLst/>
          </a:prstGeom>
          <a:solidFill>
            <a:srgbClr val="EC674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13"/>
          <p:cNvSpPr/>
          <p:nvPr/>
        </p:nvSpPr>
        <p:spPr>
          <a:xfrm>
            <a:off x="571500" y="1047750"/>
            <a:ext cx="11049000" cy="7620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3300">
                <a:solidFill>
                  <a:srgbClr val="193D31"/>
                </a:solidFill>
              </a:rPr>
              <a:t>A measurable testnet pilot</a:t>
            </a:r>
            <a:endParaRPr b="1" sz="3300">
              <a:solidFill>
                <a:srgbClr val="193D31"/>
              </a:solidFill>
            </a:endParaRPr>
          </a:p>
        </p:txBody>
      </p:sp>
      <p:sp>
        <p:nvSpPr>
          <p:cNvPr id="115" name="Google Shape;115;p13"/>
          <p:cNvSpPr/>
          <p:nvPr/>
        </p:nvSpPr>
        <p:spPr>
          <a:xfrm>
            <a:off x="571500" y="2333625"/>
            <a:ext cx="3238500" cy="4287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2400">
                <a:solidFill>
                  <a:srgbClr val="193D31"/>
                </a:solidFill>
              </a:rPr>
              <a:t>Recruit</a:t>
            </a:r>
            <a:endParaRPr b="1" sz="2400">
              <a:solidFill>
                <a:srgbClr val="193D31"/>
              </a:solidFill>
            </a:endParaRPr>
          </a:p>
        </p:txBody>
      </p:sp>
      <p:sp>
        <p:nvSpPr>
          <p:cNvPr id="116" name="Google Shape;116;p13"/>
          <p:cNvSpPr/>
          <p:nvPr/>
        </p:nvSpPr>
        <p:spPr>
          <a:xfrm>
            <a:off x="571500" y="2952750"/>
            <a:ext cx="3238500" cy="20001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1950">
                <a:solidFill>
                  <a:srgbClr val="5F7468"/>
                </a:solidFill>
              </a:rPr>
              <a:t>Invite 20 treasury, lending and agent builders through developer communities and our network.</a:t>
            </a:r>
            <a:endParaRPr sz="1950">
              <a:solidFill>
                <a:srgbClr val="5F7468"/>
              </a:solidFill>
            </a:endParaRPr>
          </a:p>
          <a:p>
            <a:pPr indent="0" lvl="0" marL="0" marR="0" rtl="0" algn="l">
              <a:lnSpc>
                <a:spcPct val="110000"/>
              </a:lnSpc>
              <a:spcBef>
                <a:spcPts val="0"/>
              </a:spcBef>
              <a:spcAft>
                <a:spcPts val="0"/>
              </a:spcAft>
              <a:buNone/>
            </a:pPr>
            <a:r>
              <a:rPr lang="en-US" sz="1950">
                <a:solidFill>
                  <a:srgbClr val="5F7468"/>
                </a:solidFill>
              </a:rPr>
              <a:t>Conduct five interviews.</a:t>
            </a:r>
            <a:endParaRPr sz="1950">
              <a:solidFill>
                <a:srgbClr val="5F7468"/>
              </a:solidFill>
            </a:endParaRPr>
          </a:p>
        </p:txBody>
      </p:sp>
      <p:sp>
        <p:nvSpPr>
          <p:cNvPr id="117" name="Google Shape;117;p13"/>
          <p:cNvSpPr/>
          <p:nvPr/>
        </p:nvSpPr>
        <p:spPr>
          <a:xfrm>
            <a:off x="4476750" y="2333625"/>
            <a:ext cx="3238500" cy="4287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2400">
                <a:solidFill>
                  <a:srgbClr val="EC674F"/>
                </a:solidFill>
              </a:rPr>
              <a:t>10 testers</a:t>
            </a:r>
            <a:endParaRPr b="1" sz="2400">
              <a:solidFill>
                <a:srgbClr val="EC674F"/>
              </a:solidFill>
            </a:endParaRPr>
          </a:p>
        </p:txBody>
      </p:sp>
      <p:sp>
        <p:nvSpPr>
          <p:cNvPr id="118" name="Google Shape;118;p13"/>
          <p:cNvSpPr/>
          <p:nvPr/>
        </p:nvSpPr>
        <p:spPr>
          <a:xfrm>
            <a:off x="4476750" y="2952750"/>
            <a:ext cx="3238500" cy="20001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1950">
                <a:solidFill>
                  <a:srgbClr val="5F7468"/>
                </a:solidFill>
              </a:rPr>
              <a:t>Own wallets and faucet tokens.</a:t>
            </a:r>
            <a:endParaRPr sz="1950">
              <a:solidFill>
                <a:srgbClr val="5F7468"/>
              </a:solidFill>
            </a:endParaRPr>
          </a:p>
          <a:p>
            <a:pPr indent="0" lvl="0" marL="0" marR="0" rtl="0" algn="l">
              <a:lnSpc>
                <a:spcPct val="110000"/>
              </a:lnSpc>
              <a:spcBef>
                <a:spcPts val="0"/>
              </a:spcBef>
              <a:spcAft>
                <a:spcPts val="0"/>
              </a:spcAft>
              <a:buNone/>
            </a:pPr>
            <a:r>
              <a:rPr lang="en-US" sz="1950">
                <a:solidFill>
                  <a:srgbClr val="5F7468"/>
                </a:solidFill>
              </a:rPr>
              <a:t>30 completed journeys covering both exits, provider claims and maturity settlement.</a:t>
            </a:r>
            <a:endParaRPr sz="1950">
              <a:solidFill>
                <a:srgbClr val="5F7468"/>
              </a:solidFill>
            </a:endParaRPr>
          </a:p>
        </p:txBody>
      </p:sp>
      <p:sp>
        <p:nvSpPr>
          <p:cNvPr id="119" name="Google Shape;119;p13"/>
          <p:cNvSpPr/>
          <p:nvPr/>
        </p:nvSpPr>
        <p:spPr>
          <a:xfrm>
            <a:off x="8382000" y="2333625"/>
            <a:ext cx="3143400" cy="4287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2400">
                <a:solidFill>
                  <a:srgbClr val="193D31"/>
                </a:solidFill>
              </a:rPr>
              <a:t>Measure</a:t>
            </a:r>
            <a:endParaRPr b="1" sz="2400">
              <a:solidFill>
                <a:srgbClr val="193D31"/>
              </a:solidFill>
            </a:endParaRPr>
          </a:p>
        </p:txBody>
      </p:sp>
      <p:sp>
        <p:nvSpPr>
          <p:cNvPr id="120" name="Google Shape;120;p13"/>
          <p:cNvSpPr/>
          <p:nvPr/>
        </p:nvSpPr>
        <p:spPr>
          <a:xfrm>
            <a:off x="8382000" y="2952750"/>
            <a:ext cx="3143400" cy="20001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1950">
                <a:solidFill>
                  <a:srgbClr val="5F7468"/>
                </a:solidFill>
              </a:rPr>
              <a:t>8 of 10 complete a core flow without live help.</a:t>
            </a:r>
            <a:endParaRPr sz="1950">
              <a:solidFill>
                <a:srgbClr val="5F7468"/>
              </a:solidFill>
            </a:endParaRPr>
          </a:p>
          <a:p>
            <a:pPr indent="0" lvl="0" marL="0" marR="0" rtl="0" algn="l">
              <a:lnSpc>
                <a:spcPct val="110000"/>
              </a:lnSpc>
              <a:spcBef>
                <a:spcPts val="0"/>
              </a:spcBef>
              <a:spcAft>
                <a:spcPts val="0"/>
              </a:spcAft>
              <a:buNone/>
            </a:pPr>
            <a:r>
              <a:rPr lang="en-US" sz="1950">
                <a:solidFill>
                  <a:srgbClr val="5F7468"/>
                </a:solidFill>
              </a:rPr>
              <a:t>Seek two follow-on integration expressions of interest.</a:t>
            </a:r>
            <a:endParaRPr sz="1950">
              <a:solidFill>
                <a:srgbClr val="5F7468"/>
              </a:solidFill>
            </a:endParaRPr>
          </a:p>
        </p:txBody>
      </p:sp>
      <p:sp>
        <p:nvSpPr>
          <p:cNvPr id="121" name="Google Shape;121;p13"/>
          <p:cNvSpPr/>
          <p:nvPr/>
        </p:nvSpPr>
        <p:spPr>
          <a:xfrm>
            <a:off x="571500" y="6457950"/>
            <a:ext cx="10191900" cy="2382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1125">
                <a:solidFill>
                  <a:srgbClr val="5F7468"/>
                </a:solidFill>
              </a:rPr>
              <a:t>Arc testnet. Unaudited. Test tokens have no monetary value.</a:t>
            </a:r>
            <a:endParaRPr sz="1125">
              <a:solidFill>
                <a:srgbClr val="5F7468"/>
              </a:solidFill>
            </a:endParaRPr>
          </a:p>
        </p:txBody>
      </p:sp>
      <p:sp>
        <p:nvSpPr>
          <p:cNvPr id="122" name="Google Shape;122;p13"/>
          <p:cNvSpPr/>
          <p:nvPr/>
        </p:nvSpPr>
        <p:spPr>
          <a:xfrm>
            <a:off x="11049000" y="6457950"/>
            <a:ext cx="5715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125">
                <a:solidFill>
                  <a:srgbClr val="5F7468"/>
                </a:solidFill>
                <a:latin typeface="Arial"/>
                <a:ea typeface="Arial"/>
                <a:cs typeface="Arial"/>
                <a:sym typeface="Arial"/>
              </a:rPr>
              <a:t>06</a:t>
            </a:r>
            <a:endParaRPr/>
          </a:p>
        </p:txBody>
      </p:sp>
      <p:sp>
        <p:nvSpPr>
          <p:cNvPr id="123" name="Google Shape;123;p13"/>
          <p:cNvSpPr txBox="1"/>
          <p:nvPr/>
        </p:nvSpPr>
        <p:spPr>
          <a:xfrm>
            <a:off x="571500" y="5476875"/>
            <a:ext cx="11049000" cy="7143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en-US" sz="1725">
                <a:solidFill>
                  <a:srgbClr val="5F7468"/>
                </a:solidFill>
              </a:rPr>
              <a:t>Future targets. No users or commitments yet. Publish results and fixes. Protocol revenue model: 1% of realized gain.</a:t>
            </a:r>
            <a:endParaRPr sz="1725">
              <a:solidFill>
                <a:srgbClr val="5F7468"/>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6"/>
        </a:solidFill>
      </p:bgPr>
    </p:bg>
    <p:spTree>
      <p:nvGrpSpPr>
        <p:cNvPr id="128" name="Shape 128"/>
        <p:cNvGrpSpPr/>
        <p:nvPr/>
      </p:nvGrpSpPr>
      <p:grpSpPr>
        <a:xfrm>
          <a:off x="0" y="0"/>
          <a:ext cx="0" cy="0"/>
          <a:chOff x="0" y="0"/>
          <a:chExt cx="0" cy="0"/>
        </a:xfrm>
      </p:grpSpPr>
      <p:sp>
        <p:nvSpPr>
          <p:cNvPr id="129" name="Google Shape;129;p14"/>
          <p:cNvSpPr/>
          <p:nvPr/>
        </p:nvSpPr>
        <p:spPr>
          <a:xfrm>
            <a:off x="571500" y="285750"/>
            <a:ext cx="952500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350">
                <a:solidFill>
                  <a:srgbClr val="193D31"/>
                </a:solidFill>
                <a:latin typeface="Arial"/>
                <a:ea typeface="Arial"/>
                <a:cs typeface="Arial"/>
                <a:sym typeface="Arial"/>
              </a:rPr>
              <a:t>YIELDSHIELD ARC</a:t>
            </a:r>
            <a:endParaRPr/>
          </a:p>
        </p:txBody>
      </p:sp>
      <p:sp>
        <p:nvSpPr>
          <p:cNvPr id="130" name="Google Shape;130;p14"/>
          <p:cNvSpPr/>
          <p:nvPr/>
        </p:nvSpPr>
        <p:spPr>
          <a:xfrm>
            <a:off x="571500" y="742950"/>
            <a:ext cx="11049000" cy="28575"/>
          </a:xfrm>
          <a:prstGeom prst="rect">
            <a:avLst/>
          </a:prstGeom>
          <a:solidFill>
            <a:srgbClr val="EC674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4"/>
          <p:cNvSpPr/>
          <p:nvPr/>
        </p:nvSpPr>
        <p:spPr>
          <a:xfrm>
            <a:off x="571500" y="1047750"/>
            <a:ext cx="11049000" cy="7620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3450">
                <a:solidFill>
                  <a:srgbClr val="193D31"/>
                </a:solidFill>
              </a:rPr>
              <a:t>The founders</a:t>
            </a:r>
            <a:endParaRPr b="1" sz="3450">
              <a:solidFill>
                <a:srgbClr val="193D31"/>
              </a:solidFill>
            </a:endParaRPr>
          </a:p>
        </p:txBody>
      </p:sp>
      <p:sp>
        <p:nvSpPr>
          <p:cNvPr id="132" name="Google Shape;132;p14"/>
          <p:cNvSpPr/>
          <p:nvPr/>
        </p:nvSpPr>
        <p:spPr>
          <a:xfrm>
            <a:off x="2571750" y="2171700"/>
            <a:ext cx="3238500" cy="4002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2250">
                <a:solidFill>
                  <a:srgbClr val="193D31"/>
                </a:solidFill>
              </a:rPr>
              <a:t>David Hawig</a:t>
            </a:r>
            <a:endParaRPr b="1" sz="2250">
              <a:solidFill>
                <a:srgbClr val="193D31"/>
              </a:solidFill>
            </a:endParaRPr>
          </a:p>
        </p:txBody>
      </p:sp>
      <p:sp>
        <p:nvSpPr>
          <p:cNvPr id="133" name="Google Shape;133;p14"/>
          <p:cNvSpPr/>
          <p:nvPr/>
        </p:nvSpPr>
        <p:spPr>
          <a:xfrm>
            <a:off x="2571750" y="2714625"/>
            <a:ext cx="3238500" cy="20001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1800">
                <a:solidFill>
                  <a:srgbClr val="5F7468"/>
                </a:solidFill>
              </a:rPr>
              <a:t>Founder and Managing Director</a:t>
            </a:r>
            <a:endParaRPr sz="1800">
              <a:solidFill>
                <a:srgbClr val="5F7468"/>
              </a:solidFill>
            </a:endParaRPr>
          </a:p>
          <a:p>
            <a:pPr indent="0" lvl="0" marL="0" marR="0" rtl="0" algn="l">
              <a:lnSpc>
                <a:spcPct val="110000"/>
              </a:lnSpc>
              <a:spcBef>
                <a:spcPts val="0"/>
              </a:spcBef>
              <a:spcAft>
                <a:spcPts val="0"/>
              </a:spcAft>
              <a:buNone/>
            </a:pPr>
            <a:r>
              <a:rPr lang="en-US" sz="1800">
                <a:solidFill>
                  <a:srgbClr val="5F7468"/>
                </a:solidFill>
              </a:rPr>
              <a:t>Former ecosystem director at Web3 Foundation</a:t>
            </a:r>
            <a:endParaRPr sz="1800">
              <a:solidFill>
                <a:srgbClr val="5F7468"/>
              </a:solidFill>
            </a:endParaRPr>
          </a:p>
          <a:p>
            <a:pPr indent="0" lvl="0" marL="0" marR="0" rtl="0" algn="l">
              <a:lnSpc>
                <a:spcPct val="110000"/>
              </a:lnSpc>
              <a:spcBef>
                <a:spcPts val="0"/>
              </a:spcBef>
              <a:spcAft>
                <a:spcPts val="0"/>
              </a:spcAft>
              <a:buNone/>
            </a:pPr>
            <a:r>
              <a:rPr lang="en-US" sz="1800">
                <a:solidFill>
                  <a:srgbClr val="5F7468"/>
                </a:solidFill>
              </a:rPr>
              <a:t>Founded and exited two startups</a:t>
            </a:r>
            <a:endParaRPr sz="1800">
              <a:solidFill>
                <a:srgbClr val="5F7468"/>
              </a:solidFill>
            </a:endParaRPr>
          </a:p>
          <a:p>
            <a:pPr indent="0" lvl="0" marL="0" marR="0" rtl="0" algn="l">
              <a:lnSpc>
                <a:spcPct val="110000"/>
              </a:lnSpc>
              <a:spcBef>
                <a:spcPts val="0"/>
              </a:spcBef>
              <a:spcAft>
                <a:spcPts val="0"/>
              </a:spcAft>
              <a:buNone/>
            </a:pPr>
            <a:r>
              <a:rPr lang="en-US" sz="1800">
                <a:solidFill>
                  <a:srgbClr val="5F7468"/>
                </a:solidFill>
              </a:rPr>
              <a:t>Full-time on YieldShield</a:t>
            </a:r>
            <a:endParaRPr sz="1800">
              <a:solidFill>
                <a:srgbClr val="5F7468"/>
              </a:solidFill>
            </a:endParaRPr>
          </a:p>
        </p:txBody>
      </p:sp>
      <p:sp>
        <p:nvSpPr>
          <p:cNvPr id="134" name="Google Shape;134;p14"/>
          <p:cNvSpPr/>
          <p:nvPr/>
        </p:nvSpPr>
        <p:spPr>
          <a:xfrm>
            <a:off x="8286750" y="2171700"/>
            <a:ext cx="3238500" cy="4002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2250">
                <a:solidFill>
                  <a:srgbClr val="193D31"/>
                </a:solidFill>
              </a:rPr>
              <a:t>Santiago Balaguer</a:t>
            </a:r>
            <a:endParaRPr b="1" sz="2250">
              <a:solidFill>
                <a:srgbClr val="193D31"/>
              </a:solidFill>
            </a:endParaRPr>
          </a:p>
        </p:txBody>
      </p:sp>
      <p:sp>
        <p:nvSpPr>
          <p:cNvPr id="135" name="Google Shape;135;p14"/>
          <p:cNvSpPr/>
          <p:nvPr/>
        </p:nvSpPr>
        <p:spPr>
          <a:xfrm>
            <a:off x="8286750" y="2714625"/>
            <a:ext cx="3238500" cy="20001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1800">
                <a:solidFill>
                  <a:srgbClr val="5F7468"/>
                </a:solidFill>
              </a:rPr>
              <a:t>Cofounder and Product Lead</a:t>
            </a:r>
            <a:endParaRPr sz="1800">
              <a:solidFill>
                <a:srgbClr val="5F7468"/>
              </a:solidFill>
            </a:endParaRPr>
          </a:p>
          <a:p>
            <a:pPr indent="0" lvl="0" marL="0" marR="0" rtl="0" algn="l">
              <a:lnSpc>
                <a:spcPct val="110000"/>
              </a:lnSpc>
              <a:spcBef>
                <a:spcPts val="0"/>
              </a:spcBef>
              <a:spcAft>
                <a:spcPts val="0"/>
              </a:spcAft>
              <a:buNone/>
            </a:pPr>
            <a:r>
              <a:rPr lang="en-US" sz="1800">
                <a:solidFill>
                  <a:srgbClr val="5F7468"/>
                </a:solidFill>
              </a:rPr>
              <a:t>15 years in product</a:t>
            </a:r>
            <a:endParaRPr sz="1800">
              <a:solidFill>
                <a:srgbClr val="5F7468"/>
              </a:solidFill>
            </a:endParaRPr>
          </a:p>
          <a:p>
            <a:pPr indent="0" lvl="0" marL="0" marR="0" rtl="0" algn="l">
              <a:lnSpc>
                <a:spcPct val="110000"/>
              </a:lnSpc>
              <a:spcBef>
                <a:spcPts val="0"/>
              </a:spcBef>
              <a:spcAft>
                <a:spcPts val="0"/>
              </a:spcAft>
              <a:buNone/>
            </a:pPr>
            <a:r>
              <a:rPr lang="en-US" sz="1800">
                <a:solidFill>
                  <a:srgbClr val="5F7468"/>
                </a:solidFill>
              </a:rPr>
              <a:t>5 years in crypto</a:t>
            </a:r>
            <a:endParaRPr sz="1800">
              <a:solidFill>
                <a:srgbClr val="5F7468"/>
              </a:solidFill>
            </a:endParaRPr>
          </a:p>
          <a:p>
            <a:pPr indent="0" lvl="0" marL="0" marR="0" rtl="0" algn="l">
              <a:lnSpc>
                <a:spcPct val="110000"/>
              </a:lnSpc>
              <a:spcBef>
                <a:spcPts val="0"/>
              </a:spcBef>
              <a:spcAft>
                <a:spcPts val="0"/>
              </a:spcAft>
              <a:buNone/>
            </a:pPr>
            <a:r>
              <a:rPr lang="en-US" sz="1800">
                <a:solidFill>
                  <a:srgbClr val="5F7468"/>
                </a:solidFill>
              </a:rPr>
              <a:t>Based in Berlin</a:t>
            </a:r>
            <a:endParaRPr sz="1800">
              <a:solidFill>
                <a:srgbClr val="5F7468"/>
              </a:solidFill>
            </a:endParaRPr>
          </a:p>
        </p:txBody>
      </p:sp>
      <p:sp>
        <p:nvSpPr>
          <p:cNvPr id="136" name="Google Shape;136;p14"/>
          <p:cNvSpPr/>
          <p:nvPr/>
        </p:nvSpPr>
        <p:spPr>
          <a:xfrm>
            <a:off x="571500" y="5238750"/>
            <a:ext cx="11049000" cy="4002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1950">
                <a:solidFill>
                  <a:srgbClr val="193D31"/>
                </a:solidFill>
              </a:rPr>
              <a:t>Hawig Ventures UG (haftungsbeschränkt), Germany</a:t>
            </a:r>
            <a:endParaRPr b="1" sz="1950">
              <a:solidFill>
                <a:srgbClr val="193D31"/>
              </a:solidFill>
            </a:endParaRPr>
          </a:p>
        </p:txBody>
      </p:sp>
      <p:sp>
        <p:nvSpPr>
          <p:cNvPr id="137" name="Google Shape;137;p14"/>
          <p:cNvSpPr/>
          <p:nvPr/>
        </p:nvSpPr>
        <p:spPr>
          <a:xfrm>
            <a:off x="571500" y="5676900"/>
            <a:ext cx="11049000" cy="5334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1650">
                <a:solidFill>
                  <a:srgbClr val="5F7468"/>
                </a:solidFill>
              </a:rPr>
              <a:t>Self-funded. No grants or investment received. Founders own the work and review AI-assisted development.</a:t>
            </a:r>
            <a:endParaRPr sz="1650">
              <a:solidFill>
                <a:srgbClr val="5F7468"/>
              </a:solidFill>
            </a:endParaRPr>
          </a:p>
        </p:txBody>
      </p:sp>
      <p:sp>
        <p:nvSpPr>
          <p:cNvPr id="138" name="Google Shape;138;p14"/>
          <p:cNvSpPr/>
          <p:nvPr/>
        </p:nvSpPr>
        <p:spPr>
          <a:xfrm>
            <a:off x="571500" y="6457950"/>
            <a:ext cx="10191900" cy="2382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1125">
                <a:solidFill>
                  <a:srgbClr val="5F7468"/>
                </a:solidFill>
              </a:rPr>
              <a:t>Arc testnet. Unaudited. Test tokens have no monetary value.</a:t>
            </a:r>
            <a:endParaRPr sz="1125">
              <a:solidFill>
                <a:srgbClr val="5F7468"/>
              </a:solidFill>
            </a:endParaRPr>
          </a:p>
        </p:txBody>
      </p:sp>
      <p:sp>
        <p:nvSpPr>
          <p:cNvPr id="139" name="Google Shape;139;p14"/>
          <p:cNvSpPr/>
          <p:nvPr/>
        </p:nvSpPr>
        <p:spPr>
          <a:xfrm>
            <a:off x="11049000" y="6457950"/>
            <a:ext cx="5715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125">
                <a:solidFill>
                  <a:srgbClr val="5F7468"/>
                </a:solidFill>
                <a:latin typeface="Arial"/>
                <a:ea typeface="Arial"/>
                <a:cs typeface="Arial"/>
                <a:sym typeface="Arial"/>
              </a:rPr>
              <a:t>07</a:t>
            </a:r>
            <a:endParaRPr/>
          </a:p>
        </p:txBody>
      </p:sp>
      <p:pic>
        <p:nvPicPr>
          <p:cNvPr descr="Founder portrait reused from the labeled team slide in YieldShield V0.13 Robinhood." id="140" name="Google Shape;140;p14" title="David Hawig"/>
          <p:cNvPicPr preferRelativeResize="0"/>
          <p:nvPr/>
        </p:nvPicPr>
        <p:blipFill>
          <a:blip r:embed="rId3">
            <a:alphaModFix/>
          </a:blip>
          <a:stretch>
            <a:fillRect/>
          </a:stretch>
        </p:blipFill>
        <p:spPr>
          <a:xfrm>
            <a:off x="571500" y="2171700"/>
            <a:ext cx="1714500" cy="1714500"/>
          </a:xfrm>
          <a:prstGeom prst="rect">
            <a:avLst/>
          </a:prstGeom>
          <a:noFill/>
          <a:ln>
            <a:noFill/>
          </a:ln>
        </p:spPr>
      </p:pic>
      <p:pic>
        <p:nvPicPr>
          <p:cNvPr descr="Cofounder portrait reused from the labeled team slide in YieldShield V0.13 Robinhood." id="141" name="Google Shape;141;p14" title="Santiago Balaguer"/>
          <p:cNvPicPr preferRelativeResize="0"/>
          <p:nvPr/>
        </p:nvPicPr>
        <p:blipFill>
          <a:blip r:embed="rId4">
            <a:alphaModFix/>
          </a:blip>
          <a:stretch>
            <a:fillRect/>
          </a:stretch>
        </p:blipFill>
        <p:spPr>
          <a:xfrm>
            <a:off x="6381750" y="2171700"/>
            <a:ext cx="1714500" cy="17145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6"/>
        </a:solidFill>
      </p:bgPr>
    </p:bg>
    <p:spTree>
      <p:nvGrpSpPr>
        <p:cNvPr id="146" name="Shape 146"/>
        <p:cNvGrpSpPr/>
        <p:nvPr/>
      </p:nvGrpSpPr>
      <p:grpSpPr>
        <a:xfrm>
          <a:off x="0" y="0"/>
          <a:ext cx="0" cy="0"/>
          <a:chOff x="0" y="0"/>
          <a:chExt cx="0" cy="0"/>
        </a:xfrm>
      </p:grpSpPr>
      <p:sp>
        <p:nvSpPr>
          <p:cNvPr id="147" name="Google Shape;147;p15"/>
          <p:cNvSpPr/>
          <p:nvPr/>
        </p:nvSpPr>
        <p:spPr>
          <a:xfrm>
            <a:off x="571500" y="285750"/>
            <a:ext cx="952500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350">
                <a:solidFill>
                  <a:srgbClr val="193D31"/>
                </a:solidFill>
                <a:latin typeface="Arial"/>
                <a:ea typeface="Arial"/>
                <a:cs typeface="Arial"/>
                <a:sym typeface="Arial"/>
              </a:rPr>
              <a:t>YIELDSHIELD ARC</a:t>
            </a:r>
            <a:endParaRPr/>
          </a:p>
        </p:txBody>
      </p:sp>
      <p:sp>
        <p:nvSpPr>
          <p:cNvPr id="148" name="Google Shape;148;p15"/>
          <p:cNvSpPr/>
          <p:nvPr/>
        </p:nvSpPr>
        <p:spPr>
          <a:xfrm>
            <a:off x="571500" y="742950"/>
            <a:ext cx="11049000" cy="28575"/>
          </a:xfrm>
          <a:prstGeom prst="rect">
            <a:avLst/>
          </a:prstGeom>
          <a:solidFill>
            <a:srgbClr val="EC674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15"/>
          <p:cNvSpPr/>
          <p:nvPr/>
        </p:nvSpPr>
        <p:spPr>
          <a:xfrm>
            <a:off x="571500" y="1047750"/>
            <a:ext cx="11049000" cy="7620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b="1" lang="en-US" sz="3300">
                <a:solidFill>
                  <a:srgbClr val="193D31"/>
                </a:solidFill>
              </a:rPr>
              <a:t>$16,000 across four milestones</a:t>
            </a:r>
            <a:endParaRPr b="1" sz="3300">
              <a:solidFill>
                <a:srgbClr val="193D31"/>
              </a:solidFill>
            </a:endParaRPr>
          </a:p>
        </p:txBody>
      </p:sp>
      <p:sp>
        <p:nvSpPr>
          <p:cNvPr id="150" name="Google Shape;150;p15"/>
          <p:cNvSpPr/>
          <p:nvPr/>
        </p:nvSpPr>
        <p:spPr>
          <a:xfrm>
            <a:off x="571500" y="5715000"/>
            <a:ext cx="11049000" cy="6192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1725">
                <a:solidFill>
                  <a:srgbClr val="5F7468"/>
                </a:solidFill>
              </a:rPr>
              <a:t>$11,000 core work. The $5,000 mainnet milestone needs a separately funded audit and legal review. Existing work is not billed.</a:t>
            </a:r>
            <a:endParaRPr sz="1725">
              <a:solidFill>
                <a:srgbClr val="5F7468"/>
              </a:solidFill>
            </a:endParaRPr>
          </a:p>
        </p:txBody>
      </p:sp>
      <p:sp>
        <p:nvSpPr>
          <p:cNvPr id="151" name="Google Shape;151;p15"/>
          <p:cNvSpPr/>
          <p:nvPr/>
        </p:nvSpPr>
        <p:spPr>
          <a:xfrm>
            <a:off x="571500" y="6457950"/>
            <a:ext cx="10191900" cy="2382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None/>
            </a:pPr>
            <a:r>
              <a:rPr lang="en-US" sz="1125">
                <a:solidFill>
                  <a:srgbClr val="5F7468"/>
                </a:solidFill>
              </a:rPr>
              <a:t>Arc testnet. Unaudited. Test tokens have no monetary value.</a:t>
            </a:r>
            <a:endParaRPr sz="1125">
              <a:solidFill>
                <a:srgbClr val="5F7468"/>
              </a:solidFill>
            </a:endParaRPr>
          </a:p>
        </p:txBody>
      </p:sp>
      <p:sp>
        <p:nvSpPr>
          <p:cNvPr id="152" name="Google Shape;152;p15"/>
          <p:cNvSpPr/>
          <p:nvPr/>
        </p:nvSpPr>
        <p:spPr>
          <a:xfrm>
            <a:off x="11049000" y="6457950"/>
            <a:ext cx="5715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125">
                <a:solidFill>
                  <a:srgbClr val="5F7468"/>
                </a:solidFill>
                <a:latin typeface="Arial"/>
                <a:ea typeface="Arial"/>
                <a:cs typeface="Arial"/>
                <a:sym typeface="Arial"/>
              </a:rPr>
              <a:t>08</a:t>
            </a:r>
            <a:endParaRPr/>
          </a:p>
        </p:txBody>
      </p:sp>
      <p:graphicFrame>
        <p:nvGraphicFramePr>
          <p:cNvPr id="153" name="Google Shape;153;p15"/>
          <p:cNvGraphicFramePr/>
          <p:nvPr/>
        </p:nvGraphicFramePr>
        <p:xfrm>
          <a:off x="571500" y="2190750"/>
          <a:ext cx="3000000" cy="3000000"/>
        </p:xfrm>
        <a:graphic>
          <a:graphicData uri="http://schemas.openxmlformats.org/drawingml/2006/table">
            <a:tbl>
              <a:tblPr>
                <a:noFill/>
                <a:tableStyleId>{A1D4ADE2-D125-4FAC-8518-385F7C3E8750}</a:tableStyleId>
              </a:tblPr>
              <a:tblGrid>
                <a:gridCol w="4318000"/>
                <a:gridCol w="3937000"/>
                <a:gridCol w="1143000"/>
                <a:gridCol w="1651000"/>
              </a:tblGrid>
              <a:tr h="647700">
                <a:tc>
                  <a:txBody>
                    <a:bodyPr/>
                    <a:lstStyle/>
                    <a:p>
                      <a:pPr indent="0" lvl="0" marL="0" rtl="0" algn="l">
                        <a:spcBef>
                          <a:spcPts val="0"/>
                        </a:spcBef>
                        <a:spcAft>
                          <a:spcPts val="0"/>
                        </a:spcAft>
                        <a:buNone/>
                      </a:pPr>
                      <a:r>
                        <a:rPr b="1" lang="en-US" sz="1700">
                          <a:solidFill>
                            <a:srgbClr val="FFFFFF"/>
                          </a:solidFill>
                        </a:rPr>
                        <a:t>Deliverable</a:t>
                      </a:r>
                      <a:endParaRPr b="1" sz="1700">
                        <a:solidFill>
                          <a:srgbClr val="FFFFFF"/>
                        </a:solidFill>
                      </a:endParaRPr>
                    </a:p>
                  </a:txBody>
                  <a:tcPr marT="91425" marB="91425" marR="91425" marL="91425" anchor="ctr">
                    <a:solidFill>
                      <a:srgbClr val="193D31"/>
                    </a:solidFill>
                  </a:tcPr>
                </a:tc>
                <a:tc>
                  <a:txBody>
                    <a:bodyPr/>
                    <a:lstStyle/>
                    <a:p>
                      <a:pPr indent="0" lvl="0" marL="0" rtl="0" algn="l">
                        <a:spcBef>
                          <a:spcPts val="0"/>
                        </a:spcBef>
                        <a:spcAft>
                          <a:spcPts val="0"/>
                        </a:spcAft>
                        <a:buNone/>
                      </a:pPr>
                      <a:r>
                        <a:rPr b="1" lang="en-US" sz="1700">
                          <a:solidFill>
                            <a:srgbClr val="FFFFFF"/>
                          </a:solidFill>
                        </a:rPr>
                        <a:t>Acceptance / target</a:t>
                      </a:r>
                      <a:endParaRPr b="1" sz="1700">
                        <a:solidFill>
                          <a:srgbClr val="FFFFFF"/>
                        </a:solidFill>
                      </a:endParaRPr>
                    </a:p>
                  </a:txBody>
                  <a:tcPr marT="91425" marB="91425" marR="91425" marL="91425" anchor="ctr">
                    <a:solidFill>
                      <a:srgbClr val="193D31"/>
                    </a:solidFill>
                  </a:tcPr>
                </a:tc>
                <a:tc>
                  <a:txBody>
                    <a:bodyPr/>
                    <a:lstStyle/>
                    <a:p>
                      <a:pPr indent="0" lvl="0" marL="0" rtl="0" algn="l">
                        <a:spcBef>
                          <a:spcPts val="0"/>
                        </a:spcBef>
                        <a:spcAft>
                          <a:spcPts val="0"/>
                        </a:spcAft>
                        <a:buNone/>
                      </a:pPr>
                      <a:r>
                        <a:rPr b="1" lang="en-US" sz="1700">
                          <a:solidFill>
                            <a:srgbClr val="FFFFFF"/>
                          </a:solidFill>
                        </a:rPr>
                        <a:t>Hours</a:t>
                      </a:r>
                      <a:endParaRPr b="1" sz="1700">
                        <a:solidFill>
                          <a:srgbClr val="FFFFFF"/>
                        </a:solidFill>
                      </a:endParaRPr>
                    </a:p>
                  </a:txBody>
                  <a:tcPr marT="91425" marB="91425" marR="91425" marL="91425" anchor="ctr">
                    <a:solidFill>
                      <a:srgbClr val="193D31"/>
                    </a:solidFill>
                  </a:tcPr>
                </a:tc>
                <a:tc>
                  <a:txBody>
                    <a:bodyPr/>
                    <a:lstStyle/>
                    <a:p>
                      <a:pPr indent="0" lvl="0" marL="0" rtl="0" algn="l">
                        <a:spcBef>
                          <a:spcPts val="0"/>
                        </a:spcBef>
                        <a:spcAft>
                          <a:spcPts val="0"/>
                        </a:spcAft>
                        <a:buNone/>
                      </a:pPr>
                      <a:r>
                        <a:rPr b="1" lang="en-US" sz="1700">
                          <a:solidFill>
                            <a:srgbClr val="FFFFFF"/>
                          </a:solidFill>
                        </a:rPr>
                        <a:t>Budget</a:t>
                      </a:r>
                      <a:endParaRPr b="1" sz="1700">
                        <a:solidFill>
                          <a:srgbClr val="FFFFFF"/>
                        </a:solidFill>
                      </a:endParaRPr>
                    </a:p>
                  </a:txBody>
                  <a:tcPr marT="91425" marB="91425" marR="91425" marL="91425" anchor="ctr">
                    <a:solidFill>
                      <a:srgbClr val="193D31"/>
                    </a:solidFill>
                  </a:tcPr>
                </a:tc>
              </a:tr>
              <a:tr h="647700">
                <a:tc>
                  <a:txBody>
                    <a:bodyPr/>
                    <a:lstStyle/>
                    <a:p>
                      <a:pPr indent="0" lvl="0" marL="0" rtl="0" algn="l">
                        <a:spcBef>
                          <a:spcPts val="0"/>
                        </a:spcBef>
                        <a:spcAft>
                          <a:spcPts val="0"/>
                        </a:spcAft>
                        <a:buNone/>
                      </a:pPr>
                      <a:r>
                        <a:rPr lang="en-US" sz="1700">
                          <a:solidFill>
                            <a:srgbClr val="193D31"/>
                          </a:solidFill>
                        </a:rPr>
                        <a:t>CCTP + App Kit exits</a:t>
                      </a:r>
                      <a:endParaRPr sz="1700">
                        <a:solidFill>
                          <a:srgbClr val="193D31"/>
                        </a:solidFill>
                      </a:endParaRPr>
                    </a:p>
                  </a:txBody>
                  <a:tcPr marT="91425" marB="91425" marR="91425" marL="91425" anchor="ctr">
                    <a:solidFill>
                      <a:srgbClr val="F8FAF6"/>
                    </a:solidFill>
                  </a:tcPr>
                </a:tc>
                <a:tc>
                  <a:txBody>
                    <a:bodyPr/>
                    <a:lstStyle/>
                    <a:p>
                      <a:pPr indent="0" lvl="0" marL="0" rtl="0" algn="l">
                        <a:spcBef>
                          <a:spcPts val="0"/>
                        </a:spcBef>
                        <a:spcAft>
                          <a:spcPts val="0"/>
                        </a:spcAft>
                        <a:buNone/>
                      </a:pPr>
                      <a:r>
                        <a:rPr lang="en-US" sz="1700">
                          <a:solidFill>
                            <a:srgbClr val="193D31"/>
                          </a:solidFill>
                        </a:rPr>
                        <a:t>4 routes, receipts + recovery</a:t>
                      </a:r>
                      <a:endParaRPr sz="1700">
                        <a:solidFill>
                          <a:srgbClr val="193D31"/>
                        </a:solidFill>
                      </a:endParaRPr>
                    </a:p>
                    <a:p>
                      <a:pPr indent="0" lvl="0" marL="0" rtl="0" algn="l">
                        <a:spcBef>
                          <a:spcPts val="0"/>
                        </a:spcBef>
                        <a:spcAft>
                          <a:spcPts val="0"/>
                        </a:spcAft>
                        <a:buNone/>
                      </a:pPr>
                      <a:r>
                        <a:rPr lang="en-US" sz="1700">
                          <a:solidFill>
                            <a:srgbClr val="193D31"/>
                          </a:solidFill>
                        </a:rPr>
                        <a:t>Week 3</a:t>
                      </a:r>
                      <a:endParaRPr sz="1700">
                        <a:solidFill>
                          <a:srgbClr val="193D31"/>
                        </a:solidFill>
                      </a:endParaRPr>
                    </a:p>
                  </a:txBody>
                  <a:tcPr marT="91425" marB="91425" marR="91425" marL="91425" anchor="ctr">
                    <a:solidFill>
                      <a:srgbClr val="F8FAF6"/>
                    </a:solidFill>
                  </a:tcPr>
                </a:tc>
                <a:tc>
                  <a:txBody>
                    <a:bodyPr/>
                    <a:lstStyle/>
                    <a:p>
                      <a:pPr indent="0" lvl="0" marL="0" rtl="0" algn="l">
                        <a:spcBef>
                          <a:spcPts val="0"/>
                        </a:spcBef>
                        <a:spcAft>
                          <a:spcPts val="0"/>
                        </a:spcAft>
                        <a:buNone/>
                      </a:pPr>
                      <a:r>
                        <a:rPr lang="en-US" sz="1700">
                          <a:solidFill>
                            <a:srgbClr val="193D31"/>
                          </a:solidFill>
                        </a:rPr>
                        <a:t>35</a:t>
                      </a:r>
                      <a:endParaRPr sz="1700">
                        <a:solidFill>
                          <a:srgbClr val="193D31"/>
                        </a:solidFill>
                      </a:endParaRPr>
                    </a:p>
                  </a:txBody>
                  <a:tcPr marT="91425" marB="91425" marR="91425" marL="91425" anchor="ctr">
                    <a:solidFill>
                      <a:srgbClr val="F8FAF6"/>
                    </a:solidFill>
                  </a:tcPr>
                </a:tc>
                <a:tc>
                  <a:txBody>
                    <a:bodyPr/>
                    <a:lstStyle/>
                    <a:p>
                      <a:pPr indent="0" lvl="0" marL="0" rtl="0" algn="l">
                        <a:spcBef>
                          <a:spcPts val="0"/>
                        </a:spcBef>
                        <a:spcAft>
                          <a:spcPts val="0"/>
                        </a:spcAft>
                        <a:buNone/>
                      </a:pPr>
                      <a:r>
                        <a:rPr lang="en-US" sz="1700">
                          <a:solidFill>
                            <a:srgbClr val="193D31"/>
                          </a:solidFill>
                        </a:rPr>
                        <a:t>$3,500</a:t>
                      </a:r>
                      <a:endParaRPr sz="1700">
                        <a:solidFill>
                          <a:srgbClr val="193D31"/>
                        </a:solidFill>
                      </a:endParaRPr>
                    </a:p>
                  </a:txBody>
                  <a:tcPr marT="91425" marB="91425" marR="91425" marL="91425" anchor="ctr">
                    <a:solidFill>
                      <a:srgbClr val="F8FAF6"/>
                    </a:solidFill>
                  </a:tcPr>
                </a:tc>
              </a:tr>
              <a:tr h="647700">
                <a:tc>
                  <a:txBody>
                    <a:bodyPr/>
                    <a:lstStyle/>
                    <a:p>
                      <a:pPr indent="0" lvl="0" marL="0" rtl="0" algn="l">
                        <a:spcBef>
                          <a:spcPts val="0"/>
                        </a:spcBef>
                        <a:spcAft>
                          <a:spcPts val="0"/>
                        </a:spcAft>
                        <a:buNone/>
                      </a:pPr>
                      <a:r>
                        <a:rPr lang="en-US" sz="1700">
                          <a:solidFill>
                            <a:srgbClr val="193D31"/>
                          </a:solidFill>
                        </a:rPr>
                        <a:t>MCP + agent identity</a:t>
                      </a:r>
                      <a:endParaRPr sz="1700">
                        <a:solidFill>
                          <a:srgbClr val="193D31"/>
                        </a:solidFill>
                      </a:endParaRPr>
                    </a:p>
                  </a:txBody>
                  <a:tcPr marT="91425" marB="91425" marR="91425" marL="91425" anchor="ctr">
                    <a:solidFill>
                      <a:srgbClr val="F8FAF6"/>
                    </a:solidFill>
                  </a:tcPr>
                </a:tc>
                <a:tc>
                  <a:txBody>
                    <a:bodyPr/>
                    <a:lstStyle/>
                    <a:p>
                      <a:pPr indent="0" lvl="0" marL="0" rtl="0" algn="l">
                        <a:spcBef>
                          <a:spcPts val="0"/>
                        </a:spcBef>
                        <a:spcAft>
                          <a:spcPts val="0"/>
                        </a:spcAft>
                        <a:buNone/>
                      </a:pPr>
                      <a:r>
                        <a:rPr lang="en-US" sz="1700">
                          <a:solidFill>
                            <a:srgbClr val="193D31"/>
                          </a:solidFill>
                        </a:rPr>
                        <a:t>Unsigned tools + wallet session</a:t>
                      </a:r>
                      <a:endParaRPr sz="1700">
                        <a:solidFill>
                          <a:srgbClr val="193D31"/>
                        </a:solidFill>
                      </a:endParaRPr>
                    </a:p>
                    <a:p>
                      <a:pPr indent="0" lvl="0" marL="0" rtl="0" algn="l">
                        <a:spcBef>
                          <a:spcPts val="0"/>
                        </a:spcBef>
                        <a:spcAft>
                          <a:spcPts val="0"/>
                        </a:spcAft>
                        <a:buNone/>
                      </a:pPr>
                      <a:r>
                        <a:rPr lang="en-US" sz="1700">
                          <a:solidFill>
                            <a:srgbClr val="193D31"/>
                          </a:solidFill>
                        </a:rPr>
                        <a:t>Week 6</a:t>
                      </a:r>
                      <a:endParaRPr sz="1700">
                        <a:solidFill>
                          <a:srgbClr val="193D31"/>
                        </a:solidFill>
                      </a:endParaRPr>
                    </a:p>
                  </a:txBody>
                  <a:tcPr marT="91425" marB="91425" marR="91425" marL="91425" anchor="ctr">
                    <a:solidFill>
                      <a:srgbClr val="F8FAF6"/>
                    </a:solidFill>
                  </a:tcPr>
                </a:tc>
                <a:tc>
                  <a:txBody>
                    <a:bodyPr/>
                    <a:lstStyle/>
                    <a:p>
                      <a:pPr indent="0" lvl="0" marL="0" rtl="0" algn="l">
                        <a:spcBef>
                          <a:spcPts val="0"/>
                        </a:spcBef>
                        <a:spcAft>
                          <a:spcPts val="0"/>
                        </a:spcAft>
                        <a:buNone/>
                      </a:pPr>
                      <a:r>
                        <a:rPr lang="en-US" sz="1700">
                          <a:solidFill>
                            <a:srgbClr val="193D31"/>
                          </a:solidFill>
                        </a:rPr>
                        <a:t>45</a:t>
                      </a:r>
                      <a:endParaRPr sz="1700">
                        <a:solidFill>
                          <a:srgbClr val="193D31"/>
                        </a:solidFill>
                      </a:endParaRPr>
                    </a:p>
                  </a:txBody>
                  <a:tcPr marT="91425" marB="91425" marR="91425" marL="91425" anchor="ctr">
                    <a:solidFill>
                      <a:srgbClr val="F8FAF6"/>
                    </a:solidFill>
                  </a:tcPr>
                </a:tc>
                <a:tc>
                  <a:txBody>
                    <a:bodyPr/>
                    <a:lstStyle/>
                    <a:p>
                      <a:pPr indent="0" lvl="0" marL="0" rtl="0" algn="l">
                        <a:spcBef>
                          <a:spcPts val="0"/>
                        </a:spcBef>
                        <a:spcAft>
                          <a:spcPts val="0"/>
                        </a:spcAft>
                        <a:buNone/>
                      </a:pPr>
                      <a:r>
                        <a:rPr lang="en-US" sz="1700">
                          <a:solidFill>
                            <a:srgbClr val="193D31"/>
                          </a:solidFill>
                        </a:rPr>
                        <a:t>$4,500</a:t>
                      </a:r>
                      <a:endParaRPr sz="1700">
                        <a:solidFill>
                          <a:srgbClr val="193D31"/>
                        </a:solidFill>
                      </a:endParaRPr>
                    </a:p>
                  </a:txBody>
                  <a:tcPr marT="91425" marB="91425" marR="91425" marL="91425" anchor="ctr">
                    <a:solidFill>
                      <a:srgbClr val="F8FAF6"/>
                    </a:solidFill>
                  </a:tcPr>
                </a:tc>
              </a:tr>
              <a:tr h="647700">
                <a:tc>
                  <a:txBody>
                    <a:bodyPr/>
                    <a:lstStyle/>
                    <a:p>
                      <a:pPr indent="0" lvl="0" marL="0" rtl="0" algn="l">
                        <a:spcBef>
                          <a:spcPts val="0"/>
                        </a:spcBef>
                        <a:spcAft>
                          <a:spcPts val="0"/>
                        </a:spcAft>
                        <a:buNone/>
                      </a:pPr>
                      <a:r>
                        <a:rPr lang="en-US" sz="1700">
                          <a:solidFill>
                            <a:srgbClr val="193D31"/>
                          </a:solidFill>
                        </a:rPr>
                        <a:t>Pilot + hardening</a:t>
                      </a:r>
                      <a:endParaRPr sz="1700">
                        <a:solidFill>
                          <a:srgbClr val="193D31"/>
                        </a:solidFill>
                      </a:endParaRPr>
                    </a:p>
                  </a:txBody>
                  <a:tcPr marT="91425" marB="91425" marR="91425" marL="91425" anchor="ctr">
                    <a:solidFill>
                      <a:srgbClr val="F8FAF6"/>
                    </a:solidFill>
                  </a:tcPr>
                </a:tc>
                <a:tc>
                  <a:txBody>
                    <a:bodyPr/>
                    <a:lstStyle/>
                    <a:p>
                      <a:pPr indent="0" lvl="0" marL="0" rtl="0" algn="l">
                        <a:spcBef>
                          <a:spcPts val="0"/>
                        </a:spcBef>
                        <a:spcAft>
                          <a:spcPts val="0"/>
                        </a:spcAft>
                        <a:buNone/>
                      </a:pPr>
                      <a:r>
                        <a:rPr lang="en-US" sz="1700">
                          <a:solidFill>
                            <a:srgbClr val="193D31"/>
                          </a:solidFill>
                        </a:rPr>
                        <a:t>10 testers, 30 journeys</a:t>
                      </a:r>
                      <a:endParaRPr sz="1700">
                        <a:solidFill>
                          <a:srgbClr val="193D31"/>
                        </a:solidFill>
                      </a:endParaRPr>
                    </a:p>
                    <a:p>
                      <a:pPr indent="0" lvl="0" marL="0" rtl="0" algn="l">
                        <a:spcBef>
                          <a:spcPts val="0"/>
                        </a:spcBef>
                        <a:spcAft>
                          <a:spcPts val="0"/>
                        </a:spcAft>
                        <a:buNone/>
                      </a:pPr>
                      <a:r>
                        <a:rPr lang="en-US" sz="1700">
                          <a:solidFill>
                            <a:srgbClr val="193D31"/>
                          </a:solidFill>
                        </a:rPr>
                        <a:t>Week 9</a:t>
                      </a:r>
                      <a:endParaRPr sz="1700">
                        <a:solidFill>
                          <a:srgbClr val="193D31"/>
                        </a:solidFill>
                      </a:endParaRPr>
                    </a:p>
                  </a:txBody>
                  <a:tcPr marT="91425" marB="91425" marR="91425" marL="91425" anchor="ctr">
                    <a:solidFill>
                      <a:srgbClr val="F8FAF6"/>
                    </a:solidFill>
                  </a:tcPr>
                </a:tc>
                <a:tc>
                  <a:txBody>
                    <a:bodyPr/>
                    <a:lstStyle/>
                    <a:p>
                      <a:pPr indent="0" lvl="0" marL="0" rtl="0" algn="l">
                        <a:spcBef>
                          <a:spcPts val="0"/>
                        </a:spcBef>
                        <a:spcAft>
                          <a:spcPts val="0"/>
                        </a:spcAft>
                        <a:buNone/>
                      </a:pPr>
                      <a:r>
                        <a:rPr lang="en-US" sz="1700">
                          <a:solidFill>
                            <a:srgbClr val="193D31"/>
                          </a:solidFill>
                        </a:rPr>
                        <a:t>30</a:t>
                      </a:r>
                      <a:endParaRPr sz="1700">
                        <a:solidFill>
                          <a:srgbClr val="193D31"/>
                        </a:solidFill>
                      </a:endParaRPr>
                    </a:p>
                  </a:txBody>
                  <a:tcPr marT="91425" marB="91425" marR="91425" marL="91425" anchor="ctr">
                    <a:solidFill>
                      <a:srgbClr val="F8FAF6"/>
                    </a:solidFill>
                  </a:tcPr>
                </a:tc>
                <a:tc>
                  <a:txBody>
                    <a:bodyPr/>
                    <a:lstStyle/>
                    <a:p>
                      <a:pPr indent="0" lvl="0" marL="0" rtl="0" algn="l">
                        <a:spcBef>
                          <a:spcPts val="0"/>
                        </a:spcBef>
                        <a:spcAft>
                          <a:spcPts val="0"/>
                        </a:spcAft>
                        <a:buNone/>
                      </a:pPr>
                      <a:r>
                        <a:rPr lang="en-US" sz="1700">
                          <a:solidFill>
                            <a:srgbClr val="193D31"/>
                          </a:solidFill>
                        </a:rPr>
                        <a:t>$3,000</a:t>
                      </a:r>
                      <a:endParaRPr sz="1700">
                        <a:solidFill>
                          <a:srgbClr val="193D31"/>
                        </a:solidFill>
                      </a:endParaRPr>
                    </a:p>
                  </a:txBody>
                  <a:tcPr marT="91425" marB="91425" marR="91425" marL="91425" anchor="ctr">
                    <a:solidFill>
                      <a:srgbClr val="F8FAF6"/>
                    </a:solidFill>
                  </a:tcPr>
                </a:tc>
              </a:tr>
              <a:tr h="647700">
                <a:tc>
                  <a:txBody>
                    <a:bodyPr/>
                    <a:lstStyle/>
                    <a:p>
                      <a:pPr indent="0" lvl="0" marL="0" rtl="0" algn="l">
                        <a:spcBef>
                          <a:spcPts val="0"/>
                        </a:spcBef>
                        <a:spcAft>
                          <a:spcPts val="0"/>
                        </a:spcAft>
                        <a:buNone/>
                      </a:pPr>
                      <a:r>
                        <a:rPr lang="en-US" sz="1700">
                          <a:solidFill>
                            <a:srgbClr val="193D31"/>
                          </a:solidFill>
                        </a:rPr>
                        <a:t>Capped mainnet release</a:t>
                      </a:r>
                      <a:endParaRPr sz="1700">
                        <a:solidFill>
                          <a:srgbClr val="193D31"/>
                        </a:solidFill>
                      </a:endParaRPr>
                    </a:p>
                  </a:txBody>
                  <a:tcPr marT="91425" marB="91425" marR="91425" marL="91425" anchor="ctr">
                    <a:solidFill>
                      <a:srgbClr val="F8FAF6"/>
                    </a:solidFill>
                  </a:tcPr>
                </a:tc>
                <a:tc>
                  <a:txBody>
                    <a:bodyPr/>
                    <a:lstStyle/>
                    <a:p>
                      <a:pPr indent="0" lvl="0" marL="0" rtl="0" algn="l">
                        <a:spcBef>
                          <a:spcPts val="0"/>
                        </a:spcBef>
                        <a:spcAft>
                          <a:spcPts val="0"/>
                        </a:spcAft>
                        <a:buNone/>
                      </a:pPr>
                      <a:r>
                        <a:rPr lang="en-US" sz="1700">
                          <a:solidFill>
                            <a:srgbClr val="193D31"/>
                          </a:solidFill>
                        </a:rPr>
                        <a:t>After audit + legal review</a:t>
                      </a:r>
                      <a:endParaRPr sz="1700">
                        <a:solidFill>
                          <a:srgbClr val="193D31"/>
                        </a:solidFill>
                      </a:endParaRPr>
                    </a:p>
                  </a:txBody>
                  <a:tcPr marT="91425" marB="91425" marR="91425" marL="91425" anchor="ctr">
                    <a:solidFill>
                      <a:srgbClr val="F8FAF6"/>
                    </a:solidFill>
                  </a:tcPr>
                </a:tc>
                <a:tc>
                  <a:txBody>
                    <a:bodyPr/>
                    <a:lstStyle/>
                    <a:p>
                      <a:pPr indent="0" lvl="0" marL="0" rtl="0" algn="l">
                        <a:spcBef>
                          <a:spcPts val="0"/>
                        </a:spcBef>
                        <a:spcAft>
                          <a:spcPts val="0"/>
                        </a:spcAft>
                        <a:buNone/>
                      </a:pPr>
                      <a:r>
                        <a:rPr lang="en-US" sz="1700">
                          <a:solidFill>
                            <a:srgbClr val="193D31"/>
                          </a:solidFill>
                        </a:rPr>
                        <a:t>50</a:t>
                      </a:r>
                      <a:endParaRPr sz="1700">
                        <a:solidFill>
                          <a:srgbClr val="193D31"/>
                        </a:solidFill>
                      </a:endParaRPr>
                    </a:p>
                  </a:txBody>
                  <a:tcPr marT="91425" marB="91425" marR="91425" marL="91425" anchor="ctr">
                    <a:solidFill>
                      <a:srgbClr val="F8FAF6"/>
                    </a:solidFill>
                  </a:tcPr>
                </a:tc>
                <a:tc>
                  <a:txBody>
                    <a:bodyPr/>
                    <a:lstStyle/>
                    <a:p>
                      <a:pPr indent="0" lvl="0" marL="0" rtl="0" algn="l">
                        <a:spcBef>
                          <a:spcPts val="0"/>
                        </a:spcBef>
                        <a:spcAft>
                          <a:spcPts val="0"/>
                        </a:spcAft>
                        <a:buNone/>
                      </a:pPr>
                      <a:r>
                        <a:rPr lang="en-US" sz="1700">
                          <a:solidFill>
                            <a:srgbClr val="193D31"/>
                          </a:solidFill>
                        </a:rPr>
                        <a:t>$5,000</a:t>
                      </a:r>
                      <a:endParaRPr sz="1700">
                        <a:solidFill>
                          <a:srgbClr val="193D31"/>
                        </a:solidFill>
                      </a:endParaRPr>
                    </a:p>
                  </a:txBody>
                  <a:tcPr marT="91425" marB="91425" marR="91425" marL="91425" anchor="ctr">
                    <a:solidFill>
                      <a:srgbClr val="F8FAF6"/>
                    </a:solidFill>
                  </a:tcPr>
                </a:tc>
              </a:tr>
            </a:tbl>
          </a:graphicData>
        </a:graphic>
      </p:graphicFrame>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