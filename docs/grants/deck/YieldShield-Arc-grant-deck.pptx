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Manrope"/>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899E53-AFA6-4102-B3E8-FE469F0F8C8C}">
  <a:tblStyle styleId="{30899E53-AFA6-4102-B3E8-FE469F0F8C8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anrope-regular.fntdata"/><Relationship Id="rId14" Type="http://schemas.openxmlformats.org/officeDocument/2006/relationships/slide" Target="slides/slide9.xml"/><Relationship Id="rId16" Type="http://schemas.openxmlformats.org/officeDocument/2006/relationships/font" Target="fonts/Manrope-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arc_title_202610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8" name="Google Shape;28;arc_title_2026102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Title: YieldShield Arc — USDC-backed protection for EURC and cirBTC. Circle Developer Grant, 20 October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Cover illustration generated with OpenAI image generation on 20 October 2026. The sculptural arch, two discs and coral base are decorative metaphors, not a product screenshot, token logo or financial model. Original prompt and source file are recorded in docs/grants/deck/README.md. All cover typography remains editable.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Arc testnet prototype. Contracts are unaudited. Test tokens have no monetary value. Application remains unsubmitted for founder review.</a:t>
            </a:r>
            <a:endParaRPr/>
          </a:p>
        </p:txBody>
      </p:sp>
      <p:sp>
        <p:nvSpPr>
          <p:cNvPr id="29" name="Google Shape;29;arc_title_2026102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saved Circle application, problem and solution fields, 20 October 2026. Claim is fixed in USDC at entry. This does not preserve EUR purchasing power or eliminate protocol, oracle or stablecoin risk. Pilot audience is proposed, not existing traction.</a:t>
            </a:r>
            <a:endParaRPr/>
          </a:p>
        </p:txBody>
      </p:sp>
      <p:sp>
        <p:nvSpPr>
          <p:cNvPr id="39" name="Google Shape;3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contracts/src/ShieldPool.sol, protect/_protect and requiredBacking; config/deployment.json. Illustrative 100/150 USDC values explain the deployed 150% collateral requirement, not current market balances. Capital providers bear asset losses. No return is promised.</a:t>
            </a:r>
            <a:endParaRPr/>
          </a:p>
        </p:txBody>
      </p:sp>
      <p:sp>
        <p:nvSpPr>
          <p:cNvPr id="61" name="Google Shape;6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ShieldPool.sol, exitAsset/partialExitAsset, exitBacking/partialExitBacking, settleExpired and claimBacking. Asset exits need a valid current price. Backing exits do not require a fresh price. Fee split is 10/1/1 percent of positive realized gain. Terms are for the featured deployment.</a:t>
            </a:r>
            <a:endParaRPr/>
          </a:p>
        </p:txBody>
      </p:sp>
      <p:sp>
        <p:nvSpPr>
          <p:cNvPr id="88" name="Google Shape;8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Current assets and oracle: config/deployment.json and ShieldOracles.sol. USDC uses its 6-decimal ERC-20 interface for accounting and also pays native gas on Arc; EURC has 6 decimals, cirBTC 8. Planned: Arc domain26 to Ethereum Sepolia0 and Base Sepolia6. USDC uses TokenMessengerV2.depositForBurn. EURC uses CrossChainTokenService.crossChainTransfer after TokenManager approval. Sources: docs/grants/CCTP_ROUTE_VALIDATION_2026-10-20.md; https://developers.circle.com/cctp/expanded-assets/concepts/cctp-differences ; https://docs.arc.io/app-kit/bridge . These integrations are future milestones.</a:t>
            </a:r>
            <a:endParaRPr/>
          </a:p>
        </p:txBody>
      </p:sp>
      <p:sp>
        <p:nvSpPr>
          <p:cNvPr id="109" name="Google Shape;10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docs/E2E_REPORT_2026-10-20.md, deployed site and config/deployment.json. Screenshot captured from the live markets page on20Oct2026, no wallet connected. Three markets: EURC reference, cirBTC reference, EURC scenario. 72 contract tests,31unit checks,12browser scenarios across runs,8confirmed Arc journey transactions. Runtime/config/receipt checks are not an audit or explorer source verification. No external adoption claimed.</a:t>
            </a:r>
            <a:endParaRPr/>
          </a:p>
        </p:txBody>
      </p:sp>
      <p:sp>
        <p:nvSpPr>
          <p:cNvPr id="141" name="Google Shape;14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docs/grants/ARC_PILOT_PLAN.md and saved application milestone3.30journeys:10assetexits,10USDCbackingexits,5maturitysettlements/claims,5providerjourneys.20invitations,5interviews,10externaltestersfrom&gt;=3teams.8/10independentcompletiontarget.Twofollow-onexpressionsofinterestarealearningtarget.Recruitmentandordinarysupportbeyond30engineeringhoursareself-funded.</a:t>
            </a:r>
            <a:endParaRPr/>
          </a:p>
        </p:txBody>
      </p:sp>
      <p:sp>
        <p:nvSpPr>
          <p:cNvPr id="156" name="Google Shape;15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Photos: existing Drive presentation YieldShield_V0.13_Robinhood.pptx, slide13 Team/Partnerships, file1s74o5XRnIDTBbQAaa99iY1M_tRgiG3Ow. Original images unchanged. Bios supplied in the saved Circle application. David full-time on YieldShield, Santiago based in Berlin. Founders own the work and review AI-assisted development.</a:t>
            </a:r>
            <a:endParaRPr/>
          </a:p>
        </p:txBody>
      </p:sp>
      <p:sp>
        <p:nvSpPr>
          <p:cNvPr id="179" name="Google Shape;17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saved Circle grant milestones.160hours total at$100/hour. M1 35h/$3500, M2 45h/$4500, M3 30h/$3000, M4 50h/$5000. Targets3/6/9weeks afteracceptance. M4 estimatedQ12027onlyafterindependentauditandlegalreviewoutsidegrant. Protocolrevenue:1%ofrealizedgain, noyieldpromises. No incentives/liquiditymining/token.</a:t>
            </a:r>
            <a:endParaRPr/>
          </a:p>
        </p:txBody>
      </p:sp>
      <p:sp>
        <p:nvSpPr>
          <p:cNvPr id="196" name="Google Shape;19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pic>
        <p:nvPicPr>
          <p:cNvPr descr="Conceptual arch sheltering two discs on a funded base. Decorative illustration, not a diagram or product screenshot." id="31" name="Google Shape;31;p8" title="Protection concept"/>
          <p:cNvPicPr preferRelativeResize="0"/>
          <p:nvPr/>
        </p:nvPicPr>
        <p:blipFill>
          <a:blip r:embed="rId3">
            <a:alphaModFix/>
          </a:blip>
          <a:stretch>
            <a:fillRect/>
          </a:stretch>
        </p:blipFill>
        <p:spPr>
          <a:xfrm>
            <a:off x="0" y="-1759"/>
            <a:ext cx="12191998" cy="6861645"/>
          </a:xfrm>
          <a:prstGeom prst="rect">
            <a:avLst/>
          </a:prstGeom>
          <a:noFill/>
          <a:ln>
            <a:noFill/>
          </a:ln>
        </p:spPr>
      </p:pic>
      <p:sp>
        <p:nvSpPr>
          <p:cNvPr id="32" name="Google Shape;32;p8"/>
          <p:cNvSpPr txBox="1"/>
          <p:nvPr/>
        </p:nvSpPr>
        <p:spPr>
          <a:xfrm>
            <a:off x="609600" y="533400"/>
            <a:ext cx="55881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200">
                <a:solidFill>
                  <a:srgbClr val="F6F5EF"/>
                </a:solidFill>
                <a:latin typeface="Manrope"/>
                <a:ea typeface="Manrope"/>
                <a:cs typeface="Manrope"/>
                <a:sym typeface="Manrope"/>
              </a:rPr>
              <a:t>YieldShield</a:t>
            </a:r>
            <a:endParaRPr b="1" sz="2200">
              <a:solidFill>
                <a:srgbClr val="F6F5EF"/>
              </a:solidFill>
              <a:latin typeface="Manrope"/>
              <a:ea typeface="Manrope"/>
              <a:cs typeface="Manrope"/>
              <a:sym typeface="Manrope"/>
            </a:endParaRPr>
          </a:p>
        </p:txBody>
      </p:sp>
      <p:sp>
        <p:nvSpPr>
          <p:cNvPr id="33" name="Google Shape;33;p8"/>
          <p:cNvSpPr txBox="1"/>
          <p:nvPr/>
        </p:nvSpPr>
        <p:spPr>
          <a:xfrm>
            <a:off x="558800" y="1879600"/>
            <a:ext cx="6222900" cy="149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8800">
                <a:solidFill>
                  <a:srgbClr val="F6F5EF"/>
                </a:solidFill>
                <a:latin typeface="Manrope"/>
                <a:ea typeface="Manrope"/>
                <a:cs typeface="Manrope"/>
                <a:sym typeface="Manrope"/>
              </a:rPr>
              <a:t>Arc</a:t>
            </a:r>
            <a:endParaRPr b="1" sz="8800">
              <a:solidFill>
                <a:srgbClr val="F6F5EF"/>
              </a:solidFill>
              <a:latin typeface="Manrope"/>
              <a:ea typeface="Manrope"/>
              <a:cs typeface="Manrope"/>
              <a:sym typeface="Manrope"/>
            </a:endParaRPr>
          </a:p>
        </p:txBody>
      </p:sp>
      <p:sp>
        <p:nvSpPr>
          <p:cNvPr id="34" name="Google Shape;34;p8"/>
          <p:cNvSpPr txBox="1"/>
          <p:nvPr/>
        </p:nvSpPr>
        <p:spPr>
          <a:xfrm>
            <a:off x="609600" y="3746500"/>
            <a:ext cx="5588100" cy="120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500">
                <a:solidFill>
                  <a:srgbClr val="F6F5EF"/>
                </a:solidFill>
                <a:latin typeface="Manrope"/>
                <a:ea typeface="Manrope"/>
                <a:cs typeface="Manrope"/>
                <a:sym typeface="Manrope"/>
              </a:rPr>
              <a:t>USDC-backed protection</a:t>
            </a:r>
            <a:endParaRPr sz="2500">
              <a:solidFill>
                <a:srgbClr val="F6F5EF"/>
              </a:solidFill>
              <a:latin typeface="Manrope"/>
              <a:ea typeface="Manrope"/>
              <a:cs typeface="Manrope"/>
              <a:sym typeface="Manrope"/>
            </a:endParaRPr>
          </a:p>
          <a:p>
            <a:pPr indent="0" lvl="0" marL="0" rtl="0" algn="l">
              <a:lnSpc>
                <a:spcPct val="110000"/>
              </a:lnSpc>
              <a:spcBef>
                <a:spcPts val="0"/>
              </a:spcBef>
              <a:spcAft>
                <a:spcPts val="0"/>
              </a:spcAft>
              <a:buNone/>
            </a:pPr>
            <a:r>
              <a:rPr lang="en-US" sz="2500">
                <a:solidFill>
                  <a:srgbClr val="F6F5EF"/>
                </a:solidFill>
                <a:latin typeface="Manrope"/>
                <a:ea typeface="Manrope"/>
                <a:cs typeface="Manrope"/>
                <a:sym typeface="Manrope"/>
              </a:rPr>
              <a:t>for EURC and cirBTC</a:t>
            </a:r>
            <a:endParaRPr sz="2500">
              <a:solidFill>
                <a:srgbClr val="F6F5EF"/>
              </a:solidFill>
              <a:latin typeface="Manrope"/>
              <a:ea typeface="Manrope"/>
              <a:cs typeface="Manrope"/>
              <a:sym typeface="Manrope"/>
            </a:endParaRPr>
          </a:p>
        </p:txBody>
      </p:sp>
      <p:sp>
        <p:nvSpPr>
          <p:cNvPr id="35" name="Google Shape;35;p8"/>
          <p:cNvSpPr txBox="1"/>
          <p:nvPr/>
        </p:nvSpPr>
        <p:spPr>
          <a:xfrm>
            <a:off x="609600" y="5651500"/>
            <a:ext cx="5588100" cy="685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300">
                <a:solidFill>
                  <a:srgbClr val="A9C5B1"/>
                </a:solidFill>
                <a:latin typeface="Manrope"/>
                <a:ea typeface="Manrope"/>
                <a:cs typeface="Manrope"/>
                <a:sym typeface="Manrope"/>
              </a:rPr>
              <a:t>Circle Developer Grant</a:t>
            </a:r>
            <a:endParaRPr sz="1300">
              <a:solidFill>
                <a:srgbClr val="A9C5B1"/>
              </a:solidFill>
              <a:latin typeface="Manrope"/>
              <a:ea typeface="Manrope"/>
              <a:cs typeface="Manrope"/>
              <a:sym typeface="Manrope"/>
            </a:endParaRPr>
          </a:p>
          <a:p>
            <a:pPr indent="0" lvl="0" marL="0" rtl="0" algn="l">
              <a:lnSpc>
                <a:spcPct val="110000"/>
              </a:lnSpc>
              <a:spcBef>
                <a:spcPts val="0"/>
              </a:spcBef>
              <a:spcAft>
                <a:spcPts val="0"/>
              </a:spcAft>
              <a:buNone/>
            </a:pPr>
            <a:r>
              <a:rPr lang="en-US" sz="1300">
                <a:solidFill>
                  <a:srgbClr val="A9C5B1"/>
                </a:solidFill>
                <a:latin typeface="Manrope"/>
                <a:ea typeface="Manrope"/>
                <a:cs typeface="Manrope"/>
                <a:sym typeface="Manrope"/>
              </a:rPr>
              <a:t>20 October 2026</a:t>
            </a:r>
            <a:endParaRPr sz="1300">
              <a:solidFill>
                <a:srgbClr val="A9C5B1"/>
              </a:solidFill>
              <a:latin typeface="Manrope"/>
              <a:ea typeface="Manrope"/>
              <a:cs typeface="Manrope"/>
              <a:sym typeface="Manrop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40" name="Shape 40"/>
        <p:cNvGrpSpPr/>
        <p:nvPr/>
      </p:nvGrpSpPr>
      <p:grpSpPr>
        <a:xfrm>
          <a:off x="0" y="0"/>
          <a:ext cx="0" cy="0"/>
          <a:chOff x="0" y="0"/>
          <a:chExt cx="0" cy="0"/>
        </a:xfrm>
      </p:grpSpPr>
      <p:sp>
        <p:nvSpPr>
          <p:cNvPr id="41" name="Google Shape;41;p9"/>
          <p:cNvSpPr txBox="1"/>
          <p:nvPr/>
        </p:nvSpPr>
        <p:spPr>
          <a:xfrm>
            <a:off x="609600" y="279400"/>
            <a:ext cx="5715000" cy="27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100">
                <a:solidFill>
                  <a:srgbClr val="597367"/>
                </a:solidFill>
                <a:latin typeface="Manrope"/>
                <a:ea typeface="Manrope"/>
                <a:cs typeface="Manrope"/>
                <a:sym typeface="Manrope"/>
              </a:rPr>
              <a:t>YieldShield Arc</a:t>
            </a:r>
            <a:endParaRPr b="1" sz="1100">
              <a:solidFill>
                <a:srgbClr val="597367"/>
              </a:solidFill>
              <a:latin typeface="Manrope"/>
              <a:ea typeface="Manrope"/>
              <a:cs typeface="Manrope"/>
              <a:sym typeface="Manrope"/>
            </a:endParaRPr>
          </a:p>
        </p:txBody>
      </p:sp>
      <p:sp>
        <p:nvSpPr>
          <p:cNvPr id="42" name="Google Shape;42;p9"/>
          <p:cNvSpPr txBox="1"/>
          <p:nvPr/>
        </p:nvSpPr>
        <p:spPr>
          <a:xfrm>
            <a:off x="609600" y="800100"/>
            <a:ext cx="110490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600">
                <a:solidFill>
                  <a:srgbClr val="12372C"/>
                </a:solidFill>
                <a:latin typeface="Manrope"/>
                <a:ea typeface="Manrope"/>
                <a:cs typeface="Manrope"/>
                <a:sym typeface="Manrope"/>
              </a:rPr>
              <a:t>A fixed exit value in USDC</a:t>
            </a:r>
            <a:endParaRPr b="1" sz="3600">
              <a:solidFill>
                <a:srgbClr val="12372C"/>
              </a:solidFill>
              <a:latin typeface="Manrope"/>
              <a:ea typeface="Manrope"/>
              <a:cs typeface="Manrope"/>
              <a:sym typeface="Manrope"/>
            </a:endParaRPr>
          </a:p>
        </p:txBody>
      </p:sp>
      <p:sp>
        <p:nvSpPr>
          <p:cNvPr id="43" name="Google Shape;43;p9"/>
          <p:cNvSpPr txBox="1"/>
          <p:nvPr/>
        </p:nvSpPr>
        <p:spPr>
          <a:xfrm>
            <a:off x="11099800" y="6438900"/>
            <a:ext cx="4827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n-US" sz="1100">
                <a:solidFill>
                  <a:srgbClr val="597367"/>
                </a:solidFill>
                <a:latin typeface="Manrope"/>
                <a:ea typeface="Manrope"/>
                <a:cs typeface="Manrope"/>
                <a:sym typeface="Manrope"/>
              </a:rPr>
              <a:t>02</a:t>
            </a:r>
            <a:endParaRPr sz="1100">
              <a:solidFill>
                <a:srgbClr val="597367"/>
              </a:solidFill>
              <a:latin typeface="Manrope"/>
              <a:ea typeface="Manrope"/>
              <a:cs typeface="Manrope"/>
              <a:sym typeface="Manrope"/>
            </a:endParaRPr>
          </a:p>
        </p:txBody>
      </p:sp>
      <p:sp>
        <p:nvSpPr>
          <p:cNvPr id="44" name="Google Shape;44;p9"/>
          <p:cNvSpPr txBox="1"/>
          <p:nvPr/>
        </p:nvSpPr>
        <p:spPr>
          <a:xfrm>
            <a:off x="609600" y="2095500"/>
            <a:ext cx="5334000" cy="1143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300">
                <a:solidFill>
                  <a:srgbClr val="597367"/>
                </a:solidFill>
                <a:latin typeface="Manrope"/>
                <a:ea typeface="Manrope"/>
                <a:cs typeface="Manrope"/>
                <a:sym typeface="Manrope"/>
              </a:rPr>
              <a:t>Holders keep exposure to EUR or BTC.</a:t>
            </a:r>
            <a:endParaRPr sz="23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2300">
                <a:solidFill>
                  <a:srgbClr val="597367"/>
                </a:solidFill>
                <a:latin typeface="Manrope"/>
                <a:ea typeface="Manrope"/>
                <a:cs typeface="Manrope"/>
                <a:sym typeface="Manrope"/>
              </a:rPr>
              <a:t>They choose when to return to USDC.</a:t>
            </a:r>
            <a:endParaRPr sz="2300">
              <a:solidFill>
                <a:srgbClr val="597367"/>
              </a:solidFill>
              <a:latin typeface="Manrope"/>
              <a:ea typeface="Manrope"/>
              <a:cs typeface="Manrope"/>
              <a:sym typeface="Manrope"/>
            </a:endParaRPr>
          </a:p>
        </p:txBody>
      </p:sp>
      <p:sp>
        <p:nvSpPr>
          <p:cNvPr id="45" name="Google Shape;45;p9"/>
          <p:cNvSpPr/>
          <p:nvPr/>
        </p:nvSpPr>
        <p:spPr>
          <a:xfrm>
            <a:off x="6731000" y="2120900"/>
            <a:ext cx="4191000" cy="825600"/>
          </a:xfrm>
          <a:prstGeom prst="rect">
            <a:avLst/>
          </a:prstGeom>
          <a:solidFill>
            <a:srgbClr val="1237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 name="Google Shape;46;p9"/>
          <p:cNvSpPr txBox="1"/>
          <p:nvPr/>
        </p:nvSpPr>
        <p:spPr>
          <a:xfrm>
            <a:off x="6883400" y="2311400"/>
            <a:ext cx="3886200" cy="571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300">
                <a:solidFill>
                  <a:srgbClr val="F6F5EF"/>
                </a:solidFill>
                <a:latin typeface="Manrope"/>
                <a:ea typeface="Manrope"/>
                <a:cs typeface="Manrope"/>
                <a:sym typeface="Manrope"/>
              </a:rPr>
              <a:t>EURC or cirBTC</a:t>
            </a:r>
            <a:endParaRPr b="1" sz="2300">
              <a:solidFill>
                <a:srgbClr val="F6F5EF"/>
              </a:solidFill>
              <a:latin typeface="Manrope"/>
              <a:ea typeface="Manrope"/>
              <a:cs typeface="Manrope"/>
              <a:sym typeface="Manrope"/>
            </a:endParaRPr>
          </a:p>
        </p:txBody>
      </p:sp>
      <p:cxnSp>
        <p:nvCxnSpPr>
          <p:cNvPr id="47" name="Google Shape;47;p9"/>
          <p:cNvCxnSpPr/>
          <p:nvPr/>
        </p:nvCxnSpPr>
        <p:spPr>
          <a:xfrm>
            <a:off x="8826500" y="2946400"/>
            <a:ext cx="0" cy="609600"/>
          </a:xfrm>
          <a:prstGeom prst="straightConnector1">
            <a:avLst/>
          </a:prstGeom>
          <a:noFill/>
          <a:ln cap="flat" cmpd="sng" w="25400">
            <a:solidFill>
              <a:srgbClr val="12372C"/>
            </a:solidFill>
            <a:prstDash val="solid"/>
            <a:round/>
            <a:headEnd len="med" w="med" type="none"/>
            <a:tailEnd len="med" w="med" type="none"/>
          </a:ln>
        </p:spPr>
      </p:cxnSp>
      <p:cxnSp>
        <p:nvCxnSpPr>
          <p:cNvPr id="48" name="Google Shape;48;p9"/>
          <p:cNvCxnSpPr/>
          <p:nvPr/>
        </p:nvCxnSpPr>
        <p:spPr>
          <a:xfrm>
            <a:off x="7366000" y="3556000"/>
            <a:ext cx="2921100" cy="0"/>
          </a:xfrm>
          <a:prstGeom prst="straightConnector1">
            <a:avLst/>
          </a:prstGeom>
          <a:noFill/>
          <a:ln cap="flat" cmpd="sng" w="25400">
            <a:solidFill>
              <a:srgbClr val="12372C"/>
            </a:solidFill>
            <a:prstDash val="solid"/>
            <a:round/>
            <a:headEnd len="med" w="med" type="none"/>
            <a:tailEnd len="med" w="med" type="none"/>
          </a:ln>
        </p:spPr>
      </p:cxnSp>
      <p:cxnSp>
        <p:nvCxnSpPr>
          <p:cNvPr id="49" name="Google Shape;49;p9"/>
          <p:cNvCxnSpPr/>
          <p:nvPr/>
        </p:nvCxnSpPr>
        <p:spPr>
          <a:xfrm>
            <a:off x="7366000" y="3556000"/>
            <a:ext cx="0" cy="571500"/>
          </a:xfrm>
          <a:prstGeom prst="straightConnector1">
            <a:avLst/>
          </a:prstGeom>
          <a:noFill/>
          <a:ln cap="flat" cmpd="sng" w="25400">
            <a:solidFill>
              <a:srgbClr val="12372C"/>
            </a:solidFill>
            <a:prstDash val="solid"/>
            <a:round/>
            <a:headEnd len="med" w="med" type="none"/>
            <a:tailEnd len="med" w="med" type="triangle"/>
          </a:ln>
        </p:spPr>
      </p:cxnSp>
      <p:cxnSp>
        <p:nvCxnSpPr>
          <p:cNvPr id="50" name="Google Shape;50;p9"/>
          <p:cNvCxnSpPr/>
          <p:nvPr/>
        </p:nvCxnSpPr>
        <p:spPr>
          <a:xfrm>
            <a:off x="10287000" y="3556000"/>
            <a:ext cx="0" cy="571500"/>
          </a:xfrm>
          <a:prstGeom prst="straightConnector1">
            <a:avLst/>
          </a:prstGeom>
          <a:noFill/>
          <a:ln cap="flat" cmpd="sng" w="25400">
            <a:solidFill>
              <a:srgbClr val="12372C"/>
            </a:solidFill>
            <a:prstDash val="solid"/>
            <a:round/>
            <a:headEnd len="med" w="med" type="none"/>
            <a:tailEnd len="med" w="med" type="triangle"/>
          </a:ln>
        </p:spPr>
      </p:cxnSp>
      <p:sp>
        <p:nvSpPr>
          <p:cNvPr id="51" name="Google Shape;51;p9"/>
          <p:cNvSpPr txBox="1"/>
          <p:nvPr/>
        </p:nvSpPr>
        <p:spPr>
          <a:xfrm>
            <a:off x="6159500" y="4330700"/>
            <a:ext cx="2476500" cy="825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300">
                <a:solidFill>
                  <a:srgbClr val="12372C"/>
                </a:solidFill>
                <a:latin typeface="Manrope"/>
                <a:ea typeface="Manrope"/>
                <a:cs typeface="Manrope"/>
                <a:sym typeface="Manrope"/>
              </a:rPr>
              <a:t>Asset exposure</a:t>
            </a:r>
            <a:endParaRPr b="1" sz="2300">
              <a:solidFill>
                <a:srgbClr val="12372C"/>
              </a:solidFill>
              <a:latin typeface="Manrope"/>
              <a:ea typeface="Manrope"/>
              <a:cs typeface="Manrope"/>
              <a:sym typeface="Manrope"/>
            </a:endParaRPr>
          </a:p>
        </p:txBody>
      </p:sp>
      <p:sp>
        <p:nvSpPr>
          <p:cNvPr id="52" name="Google Shape;52;p9"/>
          <p:cNvSpPr txBox="1"/>
          <p:nvPr/>
        </p:nvSpPr>
        <p:spPr>
          <a:xfrm>
            <a:off x="8953500" y="4330700"/>
            <a:ext cx="2667000" cy="825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300">
                <a:solidFill>
                  <a:srgbClr val="12372C"/>
                </a:solidFill>
                <a:latin typeface="Manrope"/>
                <a:ea typeface="Manrope"/>
                <a:cs typeface="Manrope"/>
                <a:sym typeface="Manrope"/>
              </a:rPr>
              <a:t>Fixed USDC claim</a:t>
            </a:r>
            <a:endParaRPr b="1" sz="2300">
              <a:solidFill>
                <a:srgbClr val="12372C"/>
              </a:solidFill>
              <a:latin typeface="Manrope"/>
              <a:ea typeface="Manrope"/>
              <a:cs typeface="Manrope"/>
              <a:sym typeface="Manrope"/>
            </a:endParaRPr>
          </a:p>
        </p:txBody>
      </p:sp>
      <p:sp>
        <p:nvSpPr>
          <p:cNvPr id="53" name="Google Shape;53;p9"/>
          <p:cNvSpPr txBox="1"/>
          <p:nvPr/>
        </p:nvSpPr>
        <p:spPr>
          <a:xfrm>
            <a:off x="6159500" y="5143500"/>
            <a:ext cx="2476500" cy="4827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700">
                <a:solidFill>
                  <a:srgbClr val="597367"/>
                </a:solidFill>
                <a:latin typeface="Manrope"/>
                <a:ea typeface="Manrope"/>
                <a:cs typeface="Manrope"/>
                <a:sym typeface="Manrope"/>
              </a:rPr>
              <a:t>Keep upside</a:t>
            </a:r>
            <a:endParaRPr sz="1700">
              <a:solidFill>
                <a:srgbClr val="597367"/>
              </a:solidFill>
              <a:latin typeface="Manrope"/>
              <a:ea typeface="Manrope"/>
              <a:cs typeface="Manrope"/>
              <a:sym typeface="Manrope"/>
            </a:endParaRPr>
          </a:p>
        </p:txBody>
      </p:sp>
      <p:sp>
        <p:nvSpPr>
          <p:cNvPr id="54" name="Google Shape;54;p9"/>
          <p:cNvSpPr txBox="1"/>
          <p:nvPr/>
        </p:nvSpPr>
        <p:spPr>
          <a:xfrm>
            <a:off x="8953500" y="5143500"/>
            <a:ext cx="2667000" cy="6351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700">
                <a:solidFill>
                  <a:srgbClr val="597367"/>
                </a:solidFill>
                <a:latin typeface="Manrope"/>
                <a:ea typeface="Manrope"/>
                <a:cs typeface="Manrope"/>
                <a:sym typeface="Manrope"/>
              </a:rPr>
              <a:t>Choose a funded exit</a:t>
            </a:r>
            <a:endParaRPr sz="1700">
              <a:solidFill>
                <a:srgbClr val="597367"/>
              </a:solidFill>
              <a:latin typeface="Manrope"/>
              <a:ea typeface="Manrope"/>
              <a:cs typeface="Manrope"/>
              <a:sym typeface="Manrope"/>
            </a:endParaRPr>
          </a:p>
        </p:txBody>
      </p:sp>
      <p:sp>
        <p:nvSpPr>
          <p:cNvPr id="55" name="Google Shape;55;p9"/>
          <p:cNvSpPr txBox="1"/>
          <p:nvPr/>
        </p:nvSpPr>
        <p:spPr>
          <a:xfrm>
            <a:off x="609600" y="4140200"/>
            <a:ext cx="5079900" cy="444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700">
                <a:solidFill>
                  <a:srgbClr val="12372C"/>
                </a:solidFill>
                <a:latin typeface="Manrope"/>
                <a:ea typeface="Manrope"/>
                <a:cs typeface="Manrope"/>
                <a:sym typeface="Manrope"/>
              </a:rPr>
              <a:t>Initial audience</a:t>
            </a:r>
            <a:endParaRPr b="1" sz="1700">
              <a:solidFill>
                <a:srgbClr val="12372C"/>
              </a:solidFill>
              <a:latin typeface="Manrope"/>
              <a:ea typeface="Manrope"/>
              <a:cs typeface="Manrope"/>
              <a:sym typeface="Manrope"/>
            </a:endParaRPr>
          </a:p>
        </p:txBody>
      </p:sp>
      <p:sp>
        <p:nvSpPr>
          <p:cNvPr id="56" name="Google Shape;56;p9"/>
          <p:cNvSpPr txBox="1"/>
          <p:nvPr/>
        </p:nvSpPr>
        <p:spPr>
          <a:xfrm>
            <a:off x="609600" y="4686300"/>
            <a:ext cx="5079900" cy="111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300">
                <a:solidFill>
                  <a:srgbClr val="597367"/>
                </a:solidFill>
                <a:latin typeface="Manrope"/>
                <a:ea typeface="Manrope"/>
                <a:cs typeface="Manrope"/>
                <a:sym typeface="Manrope"/>
              </a:rPr>
              <a:t>Arc treasury, lending,</a:t>
            </a:r>
            <a:endParaRPr sz="23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2300">
                <a:solidFill>
                  <a:srgbClr val="597367"/>
                </a:solidFill>
                <a:latin typeface="Manrope"/>
                <a:ea typeface="Manrope"/>
                <a:cs typeface="Manrope"/>
                <a:sym typeface="Manrope"/>
              </a:rPr>
              <a:t>wallet and agent builders</a:t>
            </a:r>
            <a:endParaRPr sz="2300">
              <a:solidFill>
                <a:srgbClr val="597367"/>
              </a:solidFill>
              <a:latin typeface="Manrope"/>
              <a:ea typeface="Manrope"/>
              <a:cs typeface="Manrope"/>
              <a:sym typeface="Manrope"/>
            </a:endParaRPr>
          </a:p>
        </p:txBody>
      </p:sp>
      <p:sp>
        <p:nvSpPr>
          <p:cNvPr id="57" name="Google Shape;57;p9"/>
          <p:cNvSpPr txBox="1"/>
          <p:nvPr/>
        </p:nvSpPr>
        <p:spPr>
          <a:xfrm>
            <a:off x="609600" y="6375400"/>
            <a:ext cx="10160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a:solidFill>
                  <a:srgbClr val="597367"/>
                </a:solidFill>
                <a:latin typeface="Manrope"/>
                <a:ea typeface="Manrope"/>
                <a:cs typeface="Manrope"/>
                <a:sym typeface="Manrope"/>
              </a:rPr>
              <a:t>Arc testnet. Unaudited. Test tokens have no monetary value.</a:t>
            </a:r>
            <a:endParaRPr sz="1100">
              <a:solidFill>
                <a:srgbClr val="597367"/>
              </a:solidFill>
              <a:latin typeface="Manrope"/>
              <a:ea typeface="Manrope"/>
              <a:cs typeface="Manrope"/>
              <a:sym typeface="Manro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62" name="Shape 62"/>
        <p:cNvGrpSpPr/>
        <p:nvPr/>
      </p:nvGrpSpPr>
      <p:grpSpPr>
        <a:xfrm>
          <a:off x="0" y="0"/>
          <a:ext cx="0" cy="0"/>
          <a:chOff x="0" y="0"/>
          <a:chExt cx="0" cy="0"/>
        </a:xfrm>
      </p:grpSpPr>
      <p:sp>
        <p:nvSpPr>
          <p:cNvPr id="63" name="Google Shape;63;p10"/>
          <p:cNvSpPr txBox="1"/>
          <p:nvPr/>
        </p:nvSpPr>
        <p:spPr>
          <a:xfrm>
            <a:off x="609600" y="279400"/>
            <a:ext cx="5715000" cy="27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100">
                <a:solidFill>
                  <a:srgbClr val="597367"/>
                </a:solidFill>
                <a:latin typeface="Manrope"/>
                <a:ea typeface="Manrope"/>
                <a:cs typeface="Manrope"/>
                <a:sym typeface="Manrope"/>
              </a:rPr>
              <a:t>YieldShield Arc</a:t>
            </a:r>
            <a:endParaRPr b="1" sz="1100">
              <a:solidFill>
                <a:srgbClr val="597367"/>
              </a:solidFill>
              <a:latin typeface="Manrope"/>
              <a:ea typeface="Manrope"/>
              <a:cs typeface="Manrope"/>
              <a:sym typeface="Manrope"/>
            </a:endParaRPr>
          </a:p>
        </p:txBody>
      </p:sp>
      <p:sp>
        <p:nvSpPr>
          <p:cNvPr id="64" name="Google Shape;64;p10"/>
          <p:cNvSpPr txBox="1"/>
          <p:nvPr/>
        </p:nvSpPr>
        <p:spPr>
          <a:xfrm>
            <a:off x="609600" y="800100"/>
            <a:ext cx="110490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600">
                <a:solidFill>
                  <a:srgbClr val="12372C"/>
                </a:solidFill>
                <a:latin typeface="Manrope"/>
                <a:ea typeface="Manrope"/>
                <a:cs typeface="Manrope"/>
                <a:sym typeface="Manrope"/>
              </a:rPr>
              <a:t>The reserve model</a:t>
            </a:r>
            <a:endParaRPr b="1" sz="3600">
              <a:solidFill>
                <a:srgbClr val="12372C"/>
              </a:solidFill>
              <a:latin typeface="Manrope"/>
              <a:ea typeface="Manrope"/>
              <a:cs typeface="Manrope"/>
              <a:sym typeface="Manrope"/>
            </a:endParaRPr>
          </a:p>
        </p:txBody>
      </p:sp>
      <p:sp>
        <p:nvSpPr>
          <p:cNvPr id="65" name="Google Shape;65;p10"/>
          <p:cNvSpPr txBox="1"/>
          <p:nvPr/>
        </p:nvSpPr>
        <p:spPr>
          <a:xfrm>
            <a:off x="11099800" y="6438900"/>
            <a:ext cx="4827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n-US" sz="1100">
                <a:solidFill>
                  <a:srgbClr val="597367"/>
                </a:solidFill>
                <a:latin typeface="Manrope"/>
                <a:ea typeface="Manrope"/>
                <a:cs typeface="Manrope"/>
                <a:sym typeface="Manrope"/>
              </a:rPr>
              <a:t>03</a:t>
            </a:r>
            <a:endParaRPr sz="1100">
              <a:solidFill>
                <a:srgbClr val="597367"/>
              </a:solidFill>
              <a:latin typeface="Manrope"/>
              <a:ea typeface="Manrope"/>
              <a:cs typeface="Manrope"/>
              <a:sym typeface="Manrope"/>
            </a:endParaRPr>
          </a:p>
        </p:txBody>
      </p:sp>
      <p:sp>
        <p:nvSpPr>
          <p:cNvPr id="66" name="Google Shape;66;p10"/>
          <p:cNvSpPr/>
          <p:nvPr/>
        </p:nvSpPr>
        <p:spPr>
          <a:xfrm>
            <a:off x="609600" y="2260600"/>
            <a:ext cx="2857500" cy="825600"/>
          </a:xfrm>
          <a:prstGeom prst="rect">
            <a:avLst/>
          </a:prstGeom>
          <a:solidFill>
            <a:srgbClr val="1237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0"/>
          <p:cNvSpPr txBox="1"/>
          <p:nvPr/>
        </p:nvSpPr>
        <p:spPr>
          <a:xfrm>
            <a:off x="762000" y="2451100"/>
            <a:ext cx="2552700" cy="571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300">
                <a:solidFill>
                  <a:srgbClr val="F6F5EF"/>
                </a:solidFill>
                <a:latin typeface="Manrope"/>
                <a:ea typeface="Manrope"/>
                <a:cs typeface="Manrope"/>
                <a:sym typeface="Manrope"/>
              </a:rPr>
              <a:t>Asset holder</a:t>
            </a:r>
            <a:endParaRPr b="1" sz="2300">
              <a:solidFill>
                <a:srgbClr val="F6F5EF"/>
              </a:solidFill>
              <a:latin typeface="Manrope"/>
              <a:ea typeface="Manrope"/>
              <a:cs typeface="Manrope"/>
              <a:sym typeface="Manrope"/>
            </a:endParaRPr>
          </a:p>
        </p:txBody>
      </p:sp>
      <p:sp>
        <p:nvSpPr>
          <p:cNvPr id="68" name="Google Shape;68;p10"/>
          <p:cNvSpPr/>
          <p:nvPr/>
        </p:nvSpPr>
        <p:spPr>
          <a:xfrm>
            <a:off x="4660900" y="2260600"/>
            <a:ext cx="2857500" cy="825600"/>
          </a:xfrm>
          <a:prstGeom prst="rect">
            <a:avLst/>
          </a:prstGeom>
          <a:solidFill>
            <a:srgbClr val="285E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0"/>
          <p:cNvSpPr txBox="1"/>
          <p:nvPr/>
        </p:nvSpPr>
        <p:spPr>
          <a:xfrm>
            <a:off x="4813300" y="2451100"/>
            <a:ext cx="2552700" cy="571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300">
                <a:solidFill>
                  <a:srgbClr val="F6F5EF"/>
                </a:solidFill>
                <a:latin typeface="Manrope"/>
                <a:ea typeface="Manrope"/>
                <a:cs typeface="Manrope"/>
                <a:sym typeface="Manrope"/>
              </a:rPr>
              <a:t>YieldShield pool</a:t>
            </a:r>
            <a:endParaRPr b="1" sz="2300">
              <a:solidFill>
                <a:srgbClr val="F6F5EF"/>
              </a:solidFill>
              <a:latin typeface="Manrope"/>
              <a:ea typeface="Manrope"/>
              <a:cs typeface="Manrope"/>
              <a:sym typeface="Manrope"/>
            </a:endParaRPr>
          </a:p>
        </p:txBody>
      </p:sp>
      <p:sp>
        <p:nvSpPr>
          <p:cNvPr id="70" name="Google Shape;70;p10"/>
          <p:cNvSpPr/>
          <p:nvPr/>
        </p:nvSpPr>
        <p:spPr>
          <a:xfrm>
            <a:off x="8712200" y="2260600"/>
            <a:ext cx="2857500" cy="825600"/>
          </a:xfrm>
          <a:prstGeom prst="rect">
            <a:avLst/>
          </a:prstGeom>
          <a:solidFill>
            <a:srgbClr val="1237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0"/>
          <p:cNvSpPr txBox="1"/>
          <p:nvPr/>
        </p:nvSpPr>
        <p:spPr>
          <a:xfrm>
            <a:off x="8864600" y="2451100"/>
            <a:ext cx="2552700" cy="571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300">
                <a:solidFill>
                  <a:srgbClr val="F6F5EF"/>
                </a:solidFill>
                <a:latin typeface="Manrope"/>
                <a:ea typeface="Manrope"/>
                <a:cs typeface="Manrope"/>
                <a:sym typeface="Manrope"/>
              </a:rPr>
              <a:t>Capital provider</a:t>
            </a:r>
            <a:endParaRPr b="1" sz="2300">
              <a:solidFill>
                <a:srgbClr val="F6F5EF"/>
              </a:solidFill>
              <a:latin typeface="Manrope"/>
              <a:ea typeface="Manrope"/>
              <a:cs typeface="Manrope"/>
              <a:sym typeface="Manrope"/>
            </a:endParaRPr>
          </a:p>
        </p:txBody>
      </p:sp>
      <p:cxnSp>
        <p:nvCxnSpPr>
          <p:cNvPr id="72" name="Google Shape;72;p10"/>
          <p:cNvCxnSpPr/>
          <p:nvPr/>
        </p:nvCxnSpPr>
        <p:spPr>
          <a:xfrm>
            <a:off x="3467100" y="2667000"/>
            <a:ext cx="1041300" cy="0"/>
          </a:xfrm>
          <a:prstGeom prst="straightConnector1">
            <a:avLst/>
          </a:prstGeom>
          <a:noFill/>
          <a:ln cap="flat" cmpd="sng" w="31750">
            <a:solidFill>
              <a:srgbClr val="285E49"/>
            </a:solidFill>
            <a:prstDash val="solid"/>
            <a:round/>
            <a:headEnd len="med" w="med" type="none"/>
            <a:tailEnd len="med" w="med" type="triangle"/>
          </a:ln>
        </p:spPr>
      </p:cxnSp>
      <p:cxnSp>
        <p:nvCxnSpPr>
          <p:cNvPr id="73" name="Google Shape;73;p10"/>
          <p:cNvCxnSpPr/>
          <p:nvPr/>
        </p:nvCxnSpPr>
        <p:spPr>
          <a:xfrm rot="10800000">
            <a:off x="7670900" y="2667000"/>
            <a:ext cx="1041300" cy="0"/>
          </a:xfrm>
          <a:prstGeom prst="straightConnector1">
            <a:avLst/>
          </a:prstGeom>
          <a:noFill/>
          <a:ln cap="flat" cmpd="sng" w="31750">
            <a:solidFill>
              <a:srgbClr val="ED765E"/>
            </a:solidFill>
            <a:prstDash val="solid"/>
            <a:round/>
            <a:headEnd len="med" w="med" type="none"/>
            <a:tailEnd len="med" w="med" type="triangle"/>
          </a:ln>
        </p:spPr>
      </p:cxnSp>
      <p:sp>
        <p:nvSpPr>
          <p:cNvPr id="74" name="Google Shape;74;p10"/>
          <p:cNvSpPr txBox="1"/>
          <p:nvPr/>
        </p:nvSpPr>
        <p:spPr>
          <a:xfrm>
            <a:off x="3429000" y="1917700"/>
            <a:ext cx="1269900" cy="342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200">
                <a:solidFill>
                  <a:srgbClr val="597367"/>
                </a:solidFill>
                <a:latin typeface="Manrope"/>
                <a:ea typeface="Manrope"/>
                <a:cs typeface="Manrope"/>
                <a:sym typeface="Manrope"/>
              </a:rPr>
              <a:t>EURC / cirBTC</a:t>
            </a:r>
            <a:endParaRPr sz="1200">
              <a:solidFill>
                <a:srgbClr val="597367"/>
              </a:solidFill>
              <a:latin typeface="Manrope"/>
              <a:ea typeface="Manrope"/>
              <a:cs typeface="Manrope"/>
              <a:sym typeface="Manrope"/>
            </a:endParaRPr>
          </a:p>
        </p:txBody>
      </p:sp>
      <p:sp>
        <p:nvSpPr>
          <p:cNvPr id="75" name="Google Shape;75;p10"/>
          <p:cNvSpPr txBox="1"/>
          <p:nvPr/>
        </p:nvSpPr>
        <p:spPr>
          <a:xfrm>
            <a:off x="7569200" y="1917700"/>
            <a:ext cx="1092300" cy="342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200">
                <a:solidFill>
                  <a:srgbClr val="597367"/>
                </a:solidFill>
                <a:latin typeface="Manrope"/>
                <a:ea typeface="Manrope"/>
                <a:cs typeface="Manrope"/>
                <a:sym typeface="Manrope"/>
              </a:rPr>
              <a:t>USDC</a:t>
            </a:r>
            <a:endParaRPr sz="1200">
              <a:solidFill>
                <a:srgbClr val="597367"/>
              </a:solidFill>
              <a:latin typeface="Manrope"/>
              <a:ea typeface="Manrope"/>
              <a:cs typeface="Manrope"/>
              <a:sym typeface="Manrope"/>
            </a:endParaRPr>
          </a:p>
        </p:txBody>
      </p:sp>
      <p:sp>
        <p:nvSpPr>
          <p:cNvPr id="76" name="Google Shape;76;p10"/>
          <p:cNvSpPr txBox="1"/>
          <p:nvPr/>
        </p:nvSpPr>
        <p:spPr>
          <a:xfrm>
            <a:off x="609600" y="3543300"/>
            <a:ext cx="2921100" cy="444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300">
                <a:solidFill>
                  <a:srgbClr val="12372C"/>
                </a:solidFill>
                <a:latin typeface="Manrope"/>
                <a:ea typeface="Manrope"/>
                <a:cs typeface="Manrope"/>
                <a:sym typeface="Manrope"/>
              </a:rPr>
              <a:t>Fixed claim</a:t>
            </a:r>
            <a:endParaRPr b="1" sz="2300">
              <a:solidFill>
                <a:srgbClr val="12372C"/>
              </a:solidFill>
              <a:latin typeface="Manrope"/>
              <a:ea typeface="Manrope"/>
              <a:cs typeface="Manrope"/>
              <a:sym typeface="Manrope"/>
            </a:endParaRPr>
          </a:p>
        </p:txBody>
      </p:sp>
      <p:sp>
        <p:nvSpPr>
          <p:cNvPr id="77" name="Google Shape;77;p10"/>
          <p:cNvSpPr txBox="1"/>
          <p:nvPr/>
        </p:nvSpPr>
        <p:spPr>
          <a:xfrm>
            <a:off x="609600" y="4140200"/>
            <a:ext cx="29211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2000">
                <a:solidFill>
                  <a:srgbClr val="597367"/>
                </a:solidFill>
                <a:latin typeface="Manrope"/>
                <a:ea typeface="Manrope"/>
                <a:cs typeface="Manrope"/>
                <a:sym typeface="Manrope"/>
              </a:rPr>
              <a:t>Value set at entry</a:t>
            </a:r>
            <a:endParaRPr sz="20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2000">
                <a:solidFill>
                  <a:srgbClr val="597367"/>
                </a:solidFill>
                <a:latin typeface="Manrope"/>
                <a:ea typeface="Manrope"/>
                <a:cs typeface="Manrope"/>
                <a:sym typeface="Manrope"/>
              </a:rPr>
              <a:t>by the oracle</a:t>
            </a:r>
            <a:endParaRPr sz="2000">
              <a:solidFill>
                <a:srgbClr val="597367"/>
              </a:solidFill>
              <a:latin typeface="Manrope"/>
              <a:ea typeface="Manrope"/>
              <a:cs typeface="Manrope"/>
              <a:sym typeface="Manrope"/>
            </a:endParaRPr>
          </a:p>
        </p:txBody>
      </p:sp>
      <p:sp>
        <p:nvSpPr>
          <p:cNvPr id="78" name="Google Shape;78;p10"/>
          <p:cNvSpPr txBox="1"/>
          <p:nvPr/>
        </p:nvSpPr>
        <p:spPr>
          <a:xfrm>
            <a:off x="4660900" y="3556000"/>
            <a:ext cx="2984400" cy="990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6000">
                <a:solidFill>
                  <a:srgbClr val="ED765E"/>
                </a:solidFill>
                <a:latin typeface="Manrope"/>
                <a:ea typeface="Manrope"/>
                <a:cs typeface="Manrope"/>
                <a:sym typeface="Manrope"/>
              </a:rPr>
              <a:t>150%</a:t>
            </a:r>
            <a:endParaRPr b="1" sz="6000">
              <a:solidFill>
                <a:srgbClr val="ED765E"/>
              </a:solidFill>
              <a:latin typeface="Manrope"/>
              <a:ea typeface="Manrope"/>
              <a:cs typeface="Manrope"/>
              <a:sym typeface="Manrope"/>
            </a:endParaRPr>
          </a:p>
        </p:txBody>
      </p:sp>
      <p:sp>
        <p:nvSpPr>
          <p:cNvPr id="79" name="Google Shape;79;p10"/>
          <p:cNvSpPr txBox="1"/>
          <p:nvPr/>
        </p:nvSpPr>
        <p:spPr>
          <a:xfrm>
            <a:off x="4356100" y="4660900"/>
            <a:ext cx="3479700" cy="609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900">
                <a:solidFill>
                  <a:srgbClr val="597367"/>
                </a:solidFill>
                <a:latin typeface="Manrope"/>
                <a:ea typeface="Manrope"/>
                <a:cs typeface="Manrope"/>
                <a:sym typeface="Manrope"/>
              </a:rPr>
              <a:t>USDC reserved per claim</a:t>
            </a:r>
            <a:endParaRPr sz="1900">
              <a:solidFill>
                <a:srgbClr val="597367"/>
              </a:solidFill>
              <a:latin typeface="Manrope"/>
              <a:ea typeface="Manrope"/>
              <a:cs typeface="Manrope"/>
              <a:sym typeface="Manrope"/>
            </a:endParaRPr>
          </a:p>
        </p:txBody>
      </p:sp>
      <p:sp>
        <p:nvSpPr>
          <p:cNvPr id="80" name="Google Shape;80;p10"/>
          <p:cNvSpPr txBox="1"/>
          <p:nvPr/>
        </p:nvSpPr>
        <p:spPr>
          <a:xfrm>
            <a:off x="8712200" y="3543300"/>
            <a:ext cx="2857500" cy="444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300">
                <a:solidFill>
                  <a:srgbClr val="12372C"/>
                </a:solidFill>
                <a:latin typeface="Manrope"/>
                <a:ea typeface="Manrope"/>
                <a:cs typeface="Manrope"/>
                <a:sym typeface="Manrope"/>
              </a:rPr>
              <a:t>Risk + reward</a:t>
            </a:r>
            <a:endParaRPr b="1" sz="2300">
              <a:solidFill>
                <a:srgbClr val="12372C"/>
              </a:solidFill>
              <a:latin typeface="Manrope"/>
              <a:ea typeface="Manrope"/>
              <a:cs typeface="Manrope"/>
              <a:sym typeface="Manrope"/>
            </a:endParaRPr>
          </a:p>
        </p:txBody>
      </p:sp>
      <p:sp>
        <p:nvSpPr>
          <p:cNvPr id="81" name="Google Shape;81;p10"/>
          <p:cNvSpPr txBox="1"/>
          <p:nvPr/>
        </p:nvSpPr>
        <p:spPr>
          <a:xfrm>
            <a:off x="8712200" y="4140200"/>
            <a:ext cx="2921100" cy="1333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900">
                <a:solidFill>
                  <a:srgbClr val="597367"/>
                </a:solidFill>
                <a:latin typeface="Manrope"/>
                <a:ea typeface="Manrope"/>
                <a:cs typeface="Manrope"/>
                <a:sym typeface="Manrope"/>
              </a:rPr>
              <a:t>Earn gain fees</a:t>
            </a:r>
            <a:endParaRPr sz="19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1900">
                <a:solidFill>
                  <a:srgbClr val="597367"/>
                </a:solidFill>
                <a:latin typeface="Manrope"/>
                <a:ea typeface="Manrope"/>
                <a:cs typeface="Manrope"/>
                <a:sym typeface="Manrope"/>
              </a:rPr>
              <a:t>Receive surrendered assets</a:t>
            </a:r>
            <a:endParaRPr sz="19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1900">
                <a:solidFill>
                  <a:srgbClr val="597367"/>
                </a:solidFill>
                <a:latin typeface="Manrope"/>
                <a:ea typeface="Manrope"/>
                <a:cs typeface="Manrope"/>
                <a:sym typeface="Manrope"/>
              </a:rPr>
              <a:t>Bear their downside</a:t>
            </a:r>
            <a:endParaRPr sz="1900">
              <a:solidFill>
                <a:srgbClr val="597367"/>
              </a:solidFill>
              <a:latin typeface="Manrope"/>
              <a:ea typeface="Manrope"/>
              <a:cs typeface="Manrope"/>
              <a:sym typeface="Manrope"/>
            </a:endParaRPr>
          </a:p>
        </p:txBody>
      </p:sp>
      <p:cxnSp>
        <p:nvCxnSpPr>
          <p:cNvPr id="82" name="Google Shape;82;p10"/>
          <p:cNvCxnSpPr/>
          <p:nvPr/>
        </p:nvCxnSpPr>
        <p:spPr>
          <a:xfrm>
            <a:off x="609600" y="5778500"/>
            <a:ext cx="10972800" cy="0"/>
          </a:xfrm>
          <a:prstGeom prst="straightConnector1">
            <a:avLst/>
          </a:prstGeom>
          <a:noFill/>
          <a:ln cap="flat" cmpd="sng" w="12700">
            <a:solidFill>
              <a:srgbClr val="B5C5B9"/>
            </a:solidFill>
            <a:prstDash val="solid"/>
            <a:round/>
            <a:headEnd len="med" w="med" type="none"/>
            <a:tailEnd len="med" w="med" type="none"/>
          </a:ln>
        </p:spPr>
      </p:cxnSp>
      <p:sp>
        <p:nvSpPr>
          <p:cNvPr id="83" name="Google Shape;83;p10"/>
          <p:cNvSpPr txBox="1"/>
          <p:nvPr/>
        </p:nvSpPr>
        <p:spPr>
          <a:xfrm>
            <a:off x="609600" y="5867400"/>
            <a:ext cx="107949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700">
                <a:solidFill>
                  <a:srgbClr val="12372C"/>
                </a:solidFill>
                <a:latin typeface="Manrope"/>
                <a:ea typeface="Manrope"/>
                <a:cs typeface="Manrope"/>
                <a:sym typeface="Manrope"/>
              </a:rPr>
              <a:t>Illustration: a 100 USDC claim requires 150 USDC of backing at entry.</a:t>
            </a:r>
            <a:endParaRPr sz="1700">
              <a:solidFill>
                <a:srgbClr val="12372C"/>
              </a:solidFill>
              <a:latin typeface="Manrope"/>
              <a:ea typeface="Manrope"/>
              <a:cs typeface="Manrope"/>
              <a:sym typeface="Manrope"/>
            </a:endParaRPr>
          </a:p>
        </p:txBody>
      </p:sp>
      <p:sp>
        <p:nvSpPr>
          <p:cNvPr id="84" name="Google Shape;84;p10"/>
          <p:cNvSpPr txBox="1"/>
          <p:nvPr/>
        </p:nvSpPr>
        <p:spPr>
          <a:xfrm>
            <a:off x="609600" y="6375400"/>
            <a:ext cx="10160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a:solidFill>
                  <a:srgbClr val="597367"/>
                </a:solidFill>
                <a:latin typeface="Manrope"/>
                <a:ea typeface="Manrope"/>
                <a:cs typeface="Manrope"/>
                <a:sym typeface="Manrope"/>
              </a:rPr>
              <a:t>Reserve requirement does not replace an independent audit.</a:t>
            </a:r>
            <a:endParaRPr sz="1100">
              <a:solidFill>
                <a:srgbClr val="597367"/>
              </a:solidFill>
              <a:latin typeface="Manrope"/>
              <a:ea typeface="Manrope"/>
              <a:cs typeface="Manrope"/>
              <a:sym typeface="Manrop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372C"/>
        </a:solidFill>
      </p:bgPr>
    </p:bg>
    <p:spTree>
      <p:nvGrpSpPr>
        <p:cNvPr id="89" name="Shape 89"/>
        <p:cNvGrpSpPr/>
        <p:nvPr/>
      </p:nvGrpSpPr>
      <p:grpSpPr>
        <a:xfrm>
          <a:off x="0" y="0"/>
          <a:ext cx="0" cy="0"/>
          <a:chOff x="0" y="0"/>
          <a:chExt cx="0" cy="0"/>
        </a:xfrm>
      </p:grpSpPr>
      <p:sp>
        <p:nvSpPr>
          <p:cNvPr id="90" name="Google Shape;90;p11"/>
          <p:cNvSpPr txBox="1"/>
          <p:nvPr/>
        </p:nvSpPr>
        <p:spPr>
          <a:xfrm>
            <a:off x="609600" y="279400"/>
            <a:ext cx="5715000" cy="27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100">
                <a:solidFill>
                  <a:srgbClr val="A9C5B1"/>
                </a:solidFill>
                <a:latin typeface="Manrope"/>
                <a:ea typeface="Manrope"/>
                <a:cs typeface="Manrope"/>
                <a:sym typeface="Manrope"/>
              </a:rPr>
              <a:t>YieldShield Arc</a:t>
            </a:r>
            <a:endParaRPr b="1" sz="1100">
              <a:solidFill>
                <a:srgbClr val="A9C5B1"/>
              </a:solidFill>
              <a:latin typeface="Manrope"/>
              <a:ea typeface="Manrope"/>
              <a:cs typeface="Manrope"/>
              <a:sym typeface="Manrope"/>
            </a:endParaRPr>
          </a:p>
        </p:txBody>
      </p:sp>
      <p:sp>
        <p:nvSpPr>
          <p:cNvPr id="91" name="Google Shape;91;p11"/>
          <p:cNvSpPr txBox="1"/>
          <p:nvPr/>
        </p:nvSpPr>
        <p:spPr>
          <a:xfrm>
            <a:off x="609600" y="800100"/>
            <a:ext cx="110490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600">
                <a:solidFill>
                  <a:srgbClr val="F6F5EF"/>
                </a:solidFill>
                <a:latin typeface="Manrope"/>
                <a:ea typeface="Manrope"/>
                <a:cs typeface="Manrope"/>
                <a:sym typeface="Manrope"/>
              </a:rPr>
              <a:t>Two exits before maturity</a:t>
            </a:r>
            <a:endParaRPr b="1" sz="3600">
              <a:solidFill>
                <a:srgbClr val="F6F5EF"/>
              </a:solidFill>
              <a:latin typeface="Manrope"/>
              <a:ea typeface="Manrope"/>
              <a:cs typeface="Manrope"/>
              <a:sym typeface="Manrope"/>
            </a:endParaRPr>
          </a:p>
        </p:txBody>
      </p:sp>
      <p:sp>
        <p:nvSpPr>
          <p:cNvPr id="92" name="Google Shape;92;p11"/>
          <p:cNvSpPr txBox="1"/>
          <p:nvPr/>
        </p:nvSpPr>
        <p:spPr>
          <a:xfrm>
            <a:off x="11099800" y="6438900"/>
            <a:ext cx="4827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n-US" sz="1100">
                <a:solidFill>
                  <a:srgbClr val="A9C5B1"/>
                </a:solidFill>
                <a:latin typeface="Manrope"/>
                <a:ea typeface="Manrope"/>
                <a:cs typeface="Manrope"/>
                <a:sym typeface="Manrope"/>
              </a:rPr>
              <a:t>04</a:t>
            </a:r>
            <a:endParaRPr sz="1100">
              <a:solidFill>
                <a:srgbClr val="A9C5B1"/>
              </a:solidFill>
              <a:latin typeface="Manrope"/>
              <a:ea typeface="Manrope"/>
              <a:cs typeface="Manrope"/>
              <a:sym typeface="Manrope"/>
            </a:endParaRPr>
          </a:p>
        </p:txBody>
      </p:sp>
      <p:sp>
        <p:nvSpPr>
          <p:cNvPr id="93" name="Google Shape;93;p11"/>
          <p:cNvSpPr/>
          <p:nvPr/>
        </p:nvSpPr>
        <p:spPr>
          <a:xfrm>
            <a:off x="4267200" y="1955800"/>
            <a:ext cx="3657600" cy="749400"/>
          </a:xfrm>
          <a:prstGeom prst="rect">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1"/>
          <p:cNvSpPr txBox="1"/>
          <p:nvPr/>
        </p:nvSpPr>
        <p:spPr>
          <a:xfrm>
            <a:off x="4419600" y="2146300"/>
            <a:ext cx="3352800" cy="4953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200">
                <a:solidFill>
                  <a:srgbClr val="12372C"/>
                </a:solidFill>
                <a:latin typeface="Manrope"/>
                <a:ea typeface="Manrope"/>
                <a:cs typeface="Manrope"/>
                <a:sym typeface="Manrope"/>
              </a:rPr>
              <a:t>Protected position</a:t>
            </a:r>
            <a:endParaRPr b="1" sz="2200">
              <a:solidFill>
                <a:srgbClr val="12372C"/>
              </a:solidFill>
              <a:latin typeface="Manrope"/>
              <a:ea typeface="Manrope"/>
              <a:cs typeface="Manrope"/>
              <a:sym typeface="Manrope"/>
            </a:endParaRPr>
          </a:p>
        </p:txBody>
      </p:sp>
      <p:cxnSp>
        <p:nvCxnSpPr>
          <p:cNvPr id="95" name="Google Shape;95;p11"/>
          <p:cNvCxnSpPr/>
          <p:nvPr/>
        </p:nvCxnSpPr>
        <p:spPr>
          <a:xfrm>
            <a:off x="6096000" y="2705100"/>
            <a:ext cx="0" cy="406500"/>
          </a:xfrm>
          <a:prstGeom prst="straightConnector1">
            <a:avLst/>
          </a:prstGeom>
          <a:noFill/>
          <a:ln cap="flat" cmpd="sng" w="25400">
            <a:solidFill>
              <a:srgbClr val="A9C5B1"/>
            </a:solidFill>
            <a:prstDash val="solid"/>
            <a:round/>
            <a:headEnd len="med" w="med" type="none"/>
            <a:tailEnd len="med" w="med" type="none"/>
          </a:ln>
        </p:spPr>
      </p:cxnSp>
      <p:cxnSp>
        <p:nvCxnSpPr>
          <p:cNvPr id="96" name="Google Shape;96;p11"/>
          <p:cNvCxnSpPr/>
          <p:nvPr/>
        </p:nvCxnSpPr>
        <p:spPr>
          <a:xfrm>
            <a:off x="3162300" y="3111500"/>
            <a:ext cx="5867400" cy="0"/>
          </a:xfrm>
          <a:prstGeom prst="straightConnector1">
            <a:avLst/>
          </a:prstGeom>
          <a:noFill/>
          <a:ln cap="flat" cmpd="sng" w="25400">
            <a:solidFill>
              <a:srgbClr val="A9C5B1"/>
            </a:solidFill>
            <a:prstDash val="solid"/>
            <a:round/>
            <a:headEnd len="med" w="med" type="none"/>
            <a:tailEnd len="med" w="med" type="none"/>
          </a:ln>
        </p:spPr>
      </p:cxnSp>
      <p:cxnSp>
        <p:nvCxnSpPr>
          <p:cNvPr id="97" name="Google Shape;97;p11"/>
          <p:cNvCxnSpPr/>
          <p:nvPr/>
        </p:nvCxnSpPr>
        <p:spPr>
          <a:xfrm>
            <a:off x="3162300" y="3111500"/>
            <a:ext cx="0" cy="419100"/>
          </a:xfrm>
          <a:prstGeom prst="straightConnector1">
            <a:avLst/>
          </a:prstGeom>
          <a:noFill/>
          <a:ln cap="flat" cmpd="sng" w="25400">
            <a:solidFill>
              <a:srgbClr val="A9C5B1"/>
            </a:solidFill>
            <a:prstDash val="solid"/>
            <a:round/>
            <a:headEnd len="med" w="med" type="none"/>
            <a:tailEnd len="med" w="med" type="triangle"/>
          </a:ln>
        </p:spPr>
      </p:cxnSp>
      <p:cxnSp>
        <p:nvCxnSpPr>
          <p:cNvPr id="98" name="Google Shape;98;p11"/>
          <p:cNvCxnSpPr/>
          <p:nvPr/>
        </p:nvCxnSpPr>
        <p:spPr>
          <a:xfrm>
            <a:off x="9029700" y="3111500"/>
            <a:ext cx="0" cy="419100"/>
          </a:xfrm>
          <a:prstGeom prst="straightConnector1">
            <a:avLst/>
          </a:prstGeom>
          <a:noFill/>
          <a:ln cap="flat" cmpd="sng" w="25400">
            <a:solidFill>
              <a:srgbClr val="A9C5B1"/>
            </a:solidFill>
            <a:prstDash val="solid"/>
            <a:round/>
            <a:headEnd len="med" w="med" type="none"/>
            <a:tailEnd len="med" w="med" type="triangle"/>
          </a:ln>
        </p:spPr>
      </p:cxnSp>
      <p:sp>
        <p:nvSpPr>
          <p:cNvPr id="99" name="Google Shape;99;p11"/>
          <p:cNvSpPr txBox="1"/>
          <p:nvPr/>
        </p:nvSpPr>
        <p:spPr>
          <a:xfrm>
            <a:off x="609600" y="3708400"/>
            <a:ext cx="5105400" cy="597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3000">
                <a:solidFill>
                  <a:srgbClr val="F6F5EF"/>
                </a:solidFill>
                <a:latin typeface="Manrope"/>
                <a:ea typeface="Manrope"/>
                <a:cs typeface="Manrope"/>
                <a:sym typeface="Manrope"/>
              </a:rPr>
              <a:t>Keep the asset</a:t>
            </a:r>
            <a:endParaRPr b="1" sz="3000">
              <a:solidFill>
                <a:srgbClr val="F6F5EF"/>
              </a:solidFill>
              <a:latin typeface="Manrope"/>
              <a:ea typeface="Manrope"/>
              <a:cs typeface="Manrope"/>
              <a:sym typeface="Manrope"/>
            </a:endParaRPr>
          </a:p>
        </p:txBody>
      </p:sp>
      <p:sp>
        <p:nvSpPr>
          <p:cNvPr id="100" name="Google Shape;100;p11"/>
          <p:cNvSpPr txBox="1"/>
          <p:nvPr/>
        </p:nvSpPr>
        <p:spPr>
          <a:xfrm>
            <a:off x="6477000" y="3708400"/>
            <a:ext cx="5105400" cy="597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3000">
                <a:solidFill>
                  <a:srgbClr val="F6F5EF"/>
                </a:solidFill>
                <a:latin typeface="Manrope"/>
                <a:ea typeface="Manrope"/>
                <a:cs typeface="Manrope"/>
                <a:sym typeface="Manrope"/>
              </a:rPr>
              <a:t>Take the USDC claim</a:t>
            </a:r>
            <a:endParaRPr b="1" sz="3000">
              <a:solidFill>
                <a:srgbClr val="F6F5EF"/>
              </a:solidFill>
              <a:latin typeface="Manrope"/>
              <a:ea typeface="Manrope"/>
              <a:cs typeface="Manrope"/>
              <a:sym typeface="Manrope"/>
            </a:endParaRPr>
          </a:p>
        </p:txBody>
      </p:sp>
      <p:sp>
        <p:nvSpPr>
          <p:cNvPr id="101" name="Google Shape;101;p11"/>
          <p:cNvSpPr txBox="1"/>
          <p:nvPr/>
        </p:nvSpPr>
        <p:spPr>
          <a:xfrm>
            <a:off x="609600" y="4457700"/>
            <a:ext cx="5105400" cy="444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900">
                <a:solidFill>
                  <a:srgbClr val="A9C5B1"/>
                </a:solidFill>
                <a:latin typeface="Manrope"/>
                <a:ea typeface="Manrope"/>
                <a:cs typeface="Manrope"/>
                <a:sym typeface="Manrope"/>
              </a:rPr>
              <a:t>Pay 12% of realized gain only</a:t>
            </a:r>
            <a:endParaRPr sz="1900">
              <a:solidFill>
                <a:srgbClr val="A9C5B1"/>
              </a:solidFill>
              <a:latin typeface="Manrope"/>
              <a:ea typeface="Manrope"/>
              <a:cs typeface="Manrope"/>
              <a:sym typeface="Manrope"/>
            </a:endParaRPr>
          </a:p>
        </p:txBody>
      </p:sp>
      <p:sp>
        <p:nvSpPr>
          <p:cNvPr id="102" name="Google Shape;102;p11"/>
          <p:cNvSpPr txBox="1"/>
          <p:nvPr/>
        </p:nvSpPr>
        <p:spPr>
          <a:xfrm>
            <a:off x="6413500" y="4457700"/>
            <a:ext cx="5207100" cy="7365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900">
                <a:solidFill>
                  <a:srgbClr val="A9C5B1"/>
                </a:solidFill>
                <a:latin typeface="Manrope"/>
                <a:ea typeface="Manrope"/>
                <a:cs typeface="Manrope"/>
                <a:sym typeface="Manrope"/>
              </a:rPr>
              <a:t>Surrender the asset for the fixed claim</a:t>
            </a:r>
            <a:endParaRPr sz="1900">
              <a:solidFill>
                <a:srgbClr val="A9C5B1"/>
              </a:solidFill>
              <a:latin typeface="Manrope"/>
              <a:ea typeface="Manrope"/>
              <a:cs typeface="Manrope"/>
              <a:sym typeface="Manrope"/>
            </a:endParaRPr>
          </a:p>
        </p:txBody>
      </p:sp>
      <p:sp>
        <p:nvSpPr>
          <p:cNvPr id="103" name="Google Shape;103;p11"/>
          <p:cNvSpPr txBox="1"/>
          <p:nvPr/>
        </p:nvSpPr>
        <p:spPr>
          <a:xfrm>
            <a:off x="609600" y="5080000"/>
            <a:ext cx="5105400" cy="444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500">
                <a:solidFill>
                  <a:srgbClr val="ED765E"/>
                </a:solidFill>
                <a:latin typeface="Manrope"/>
                <a:ea typeface="Manrope"/>
                <a:cs typeface="Manrope"/>
                <a:sym typeface="Manrope"/>
              </a:rPr>
              <a:t>10% provider   1% creator   1% protocol</a:t>
            </a:r>
            <a:endParaRPr sz="1500">
              <a:solidFill>
                <a:srgbClr val="ED765E"/>
              </a:solidFill>
              <a:latin typeface="Manrope"/>
              <a:ea typeface="Manrope"/>
              <a:cs typeface="Manrope"/>
              <a:sym typeface="Manrope"/>
            </a:endParaRPr>
          </a:p>
        </p:txBody>
      </p:sp>
      <p:sp>
        <p:nvSpPr>
          <p:cNvPr id="104" name="Google Shape;104;p11"/>
          <p:cNvSpPr txBox="1"/>
          <p:nvPr/>
        </p:nvSpPr>
        <p:spPr>
          <a:xfrm>
            <a:off x="6477000" y="5270500"/>
            <a:ext cx="5105400" cy="381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700">
                <a:solidFill>
                  <a:srgbClr val="ED765E"/>
                </a:solidFill>
                <a:latin typeface="Manrope"/>
                <a:ea typeface="Manrope"/>
                <a:cs typeface="Manrope"/>
                <a:sym typeface="Manrope"/>
              </a:rPr>
              <a:t>No price read needed for this exit</a:t>
            </a:r>
            <a:endParaRPr sz="1700">
              <a:solidFill>
                <a:srgbClr val="ED765E"/>
              </a:solidFill>
              <a:latin typeface="Manrope"/>
              <a:ea typeface="Manrope"/>
              <a:cs typeface="Manrope"/>
              <a:sym typeface="Manrope"/>
            </a:endParaRPr>
          </a:p>
        </p:txBody>
      </p:sp>
      <p:sp>
        <p:nvSpPr>
          <p:cNvPr id="105" name="Google Shape;105;p11"/>
          <p:cNvSpPr txBox="1"/>
          <p:nvPr/>
        </p:nvSpPr>
        <p:spPr>
          <a:xfrm>
            <a:off x="609600" y="6375400"/>
            <a:ext cx="10160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a:solidFill>
                  <a:srgbClr val="A9C5B1"/>
                </a:solidFill>
                <a:latin typeface="Manrope"/>
                <a:ea typeface="Manrope"/>
                <a:cs typeface="Manrope"/>
                <a:sym typeface="Manrope"/>
              </a:rPr>
              <a:t>At maturity: anyone can settle; holders claim USDC and providers receive remaining assets.</a:t>
            </a:r>
            <a:endParaRPr sz="1100">
              <a:solidFill>
                <a:srgbClr val="A9C5B1"/>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110" name="Shape 110"/>
        <p:cNvGrpSpPr/>
        <p:nvPr/>
      </p:nvGrpSpPr>
      <p:grpSpPr>
        <a:xfrm>
          <a:off x="0" y="0"/>
          <a:ext cx="0" cy="0"/>
          <a:chOff x="0" y="0"/>
          <a:chExt cx="0" cy="0"/>
        </a:xfrm>
      </p:grpSpPr>
      <p:sp>
        <p:nvSpPr>
          <p:cNvPr id="111" name="Google Shape;111;p12"/>
          <p:cNvSpPr txBox="1"/>
          <p:nvPr/>
        </p:nvSpPr>
        <p:spPr>
          <a:xfrm>
            <a:off x="609600" y="279400"/>
            <a:ext cx="5715000" cy="27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100">
                <a:solidFill>
                  <a:srgbClr val="597367"/>
                </a:solidFill>
                <a:latin typeface="Manrope"/>
                <a:ea typeface="Manrope"/>
                <a:cs typeface="Manrope"/>
                <a:sym typeface="Manrope"/>
              </a:rPr>
              <a:t>YieldShield Arc</a:t>
            </a:r>
            <a:endParaRPr b="1" sz="1100">
              <a:solidFill>
                <a:srgbClr val="597367"/>
              </a:solidFill>
              <a:latin typeface="Manrope"/>
              <a:ea typeface="Manrope"/>
              <a:cs typeface="Manrope"/>
              <a:sym typeface="Manrope"/>
            </a:endParaRPr>
          </a:p>
        </p:txBody>
      </p:sp>
      <p:sp>
        <p:nvSpPr>
          <p:cNvPr id="112" name="Google Shape;112;p12"/>
          <p:cNvSpPr txBox="1"/>
          <p:nvPr/>
        </p:nvSpPr>
        <p:spPr>
          <a:xfrm>
            <a:off x="609600" y="800100"/>
            <a:ext cx="110490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600">
                <a:solidFill>
                  <a:srgbClr val="12372C"/>
                </a:solidFill>
                <a:latin typeface="Manrope"/>
                <a:ea typeface="Manrope"/>
                <a:cs typeface="Manrope"/>
                <a:sym typeface="Manrope"/>
              </a:rPr>
              <a:t>Built on Circle assets and Arc</a:t>
            </a:r>
            <a:endParaRPr b="1" sz="3600">
              <a:solidFill>
                <a:srgbClr val="12372C"/>
              </a:solidFill>
              <a:latin typeface="Manrope"/>
              <a:ea typeface="Manrope"/>
              <a:cs typeface="Manrope"/>
              <a:sym typeface="Manrope"/>
            </a:endParaRPr>
          </a:p>
        </p:txBody>
      </p:sp>
      <p:sp>
        <p:nvSpPr>
          <p:cNvPr id="113" name="Google Shape;113;p12"/>
          <p:cNvSpPr txBox="1"/>
          <p:nvPr/>
        </p:nvSpPr>
        <p:spPr>
          <a:xfrm>
            <a:off x="11099800" y="6438900"/>
            <a:ext cx="4827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n-US" sz="1100">
                <a:solidFill>
                  <a:srgbClr val="597367"/>
                </a:solidFill>
                <a:latin typeface="Manrope"/>
                <a:ea typeface="Manrope"/>
                <a:cs typeface="Manrope"/>
                <a:sym typeface="Manrope"/>
              </a:rPr>
              <a:t>05</a:t>
            </a:r>
            <a:endParaRPr sz="1100">
              <a:solidFill>
                <a:srgbClr val="597367"/>
              </a:solidFill>
              <a:latin typeface="Manrope"/>
              <a:ea typeface="Manrope"/>
              <a:cs typeface="Manrope"/>
              <a:sym typeface="Manrope"/>
            </a:endParaRPr>
          </a:p>
        </p:txBody>
      </p:sp>
      <p:sp>
        <p:nvSpPr>
          <p:cNvPr id="114" name="Google Shape;114;p12"/>
          <p:cNvSpPr txBox="1"/>
          <p:nvPr/>
        </p:nvSpPr>
        <p:spPr>
          <a:xfrm>
            <a:off x="609600" y="1955800"/>
            <a:ext cx="45720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200">
                <a:solidFill>
                  <a:srgbClr val="597367"/>
                </a:solidFill>
                <a:latin typeface="Manrope"/>
                <a:ea typeface="Manrope"/>
                <a:cs typeface="Manrope"/>
                <a:sym typeface="Manrope"/>
              </a:rPr>
              <a:t>WORKING TODAY</a:t>
            </a:r>
            <a:endParaRPr b="1" sz="1200">
              <a:solidFill>
                <a:srgbClr val="597367"/>
              </a:solidFill>
              <a:latin typeface="Manrope"/>
              <a:ea typeface="Manrope"/>
              <a:cs typeface="Manrope"/>
              <a:sym typeface="Manrope"/>
            </a:endParaRPr>
          </a:p>
        </p:txBody>
      </p:sp>
      <p:sp>
        <p:nvSpPr>
          <p:cNvPr id="115" name="Google Shape;115;p12"/>
          <p:cNvSpPr/>
          <p:nvPr/>
        </p:nvSpPr>
        <p:spPr>
          <a:xfrm>
            <a:off x="609600" y="2438400"/>
            <a:ext cx="6032400" cy="3238500"/>
          </a:xfrm>
          <a:prstGeom prst="rect">
            <a:avLst/>
          </a:prstGeom>
          <a:solidFill>
            <a:srgbClr val="E3E9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2"/>
          <p:cNvSpPr txBox="1"/>
          <p:nvPr/>
        </p:nvSpPr>
        <p:spPr>
          <a:xfrm>
            <a:off x="863600" y="2603500"/>
            <a:ext cx="54609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200">
                <a:solidFill>
                  <a:srgbClr val="12372C"/>
                </a:solidFill>
                <a:latin typeface="Manrope"/>
                <a:ea typeface="Manrope"/>
                <a:cs typeface="Manrope"/>
                <a:sym typeface="Manrope"/>
              </a:rPr>
              <a:t>Arc testnet</a:t>
            </a:r>
            <a:endParaRPr b="1" sz="2200">
              <a:solidFill>
                <a:srgbClr val="12372C"/>
              </a:solidFill>
              <a:latin typeface="Manrope"/>
              <a:ea typeface="Manrope"/>
              <a:cs typeface="Manrope"/>
              <a:sym typeface="Manrope"/>
            </a:endParaRPr>
          </a:p>
        </p:txBody>
      </p:sp>
      <p:sp>
        <p:nvSpPr>
          <p:cNvPr id="117" name="Google Shape;117;p12"/>
          <p:cNvSpPr/>
          <p:nvPr/>
        </p:nvSpPr>
        <p:spPr>
          <a:xfrm>
            <a:off x="990600" y="3365500"/>
            <a:ext cx="1574700" cy="723900"/>
          </a:xfrm>
          <a:prstGeom prst="rect">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2"/>
          <p:cNvSpPr txBox="1"/>
          <p:nvPr/>
        </p:nvSpPr>
        <p:spPr>
          <a:xfrm>
            <a:off x="1143000" y="3556000"/>
            <a:ext cx="1269900" cy="469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000">
                <a:solidFill>
                  <a:srgbClr val="12372C"/>
                </a:solidFill>
                <a:latin typeface="Manrope"/>
                <a:ea typeface="Manrope"/>
                <a:cs typeface="Manrope"/>
                <a:sym typeface="Manrope"/>
              </a:rPr>
              <a:t>EURC</a:t>
            </a:r>
            <a:endParaRPr b="1" sz="2000">
              <a:solidFill>
                <a:srgbClr val="12372C"/>
              </a:solidFill>
              <a:latin typeface="Manrope"/>
              <a:ea typeface="Manrope"/>
              <a:cs typeface="Manrope"/>
              <a:sym typeface="Manrope"/>
            </a:endParaRPr>
          </a:p>
        </p:txBody>
      </p:sp>
      <p:sp>
        <p:nvSpPr>
          <p:cNvPr id="119" name="Google Shape;119;p12"/>
          <p:cNvSpPr/>
          <p:nvPr/>
        </p:nvSpPr>
        <p:spPr>
          <a:xfrm>
            <a:off x="2844800" y="3365500"/>
            <a:ext cx="1574700" cy="723900"/>
          </a:xfrm>
          <a:prstGeom prst="rect">
            <a:avLst/>
          </a:prstGeom>
          <a:solidFill>
            <a:srgbClr val="F6F5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2"/>
          <p:cNvSpPr txBox="1"/>
          <p:nvPr/>
        </p:nvSpPr>
        <p:spPr>
          <a:xfrm>
            <a:off x="2997200" y="3556000"/>
            <a:ext cx="1269900" cy="469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000">
                <a:solidFill>
                  <a:srgbClr val="12372C"/>
                </a:solidFill>
                <a:latin typeface="Manrope"/>
                <a:ea typeface="Manrope"/>
                <a:cs typeface="Manrope"/>
                <a:sym typeface="Manrope"/>
              </a:rPr>
              <a:t>cirBTC</a:t>
            </a:r>
            <a:endParaRPr b="1" sz="2000">
              <a:solidFill>
                <a:srgbClr val="12372C"/>
              </a:solidFill>
              <a:latin typeface="Manrope"/>
              <a:ea typeface="Manrope"/>
              <a:cs typeface="Manrope"/>
              <a:sym typeface="Manrope"/>
            </a:endParaRPr>
          </a:p>
        </p:txBody>
      </p:sp>
      <p:sp>
        <p:nvSpPr>
          <p:cNvPr id="121" name="Google Shape;121;p12"/>
          <p:cNvSpPr/>
          <p:nvPr/>
        </p:nvSpPr>
        <p:spPr>
          <a:xfrm>
            <a:off x="4699000" y="3365500"/>
            <a:ext cx="1574700" cy="723900"/>
          </a:xfrm>
          <a:prstGeom prst="rect">
            <a:avLst/>
          </a:prstGeom>
          <a:solidFill>
            <a:srgbClr val="1237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2"/>
          <p:cNvSpPr txBox="1"/>
          <p:nvPr/>
        </p:nvSpPr>
        <p:spPr>
          <a:xfrm>
            <a:off x="4851400" y="3556000"/>
            <a:ext cx="1269900" cy="469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000">
                <a:solidFill>
                  <a:srgbClr val="F6F5EF"/>
                </a:solidFill>
                <a:latin typeface="Manrope"/>
                <a:ea typeface="Manrope"/>
                <a:cs typeface="Manrope"/>
                <a:sym typeface="Manrope"/>
              </a:rPr>
              <a:t>USDC</a:t>
            </a:r>
            <a:endParaRPr b="1" sz="2000">
              <a:solidFill>
                <a:srgbClr val="F6F5EF"/>
              </a:solidFill>
              <a:latin typeface="Manrope"/>
              <a:ea typeface="Manrope"/>
              <a:cs typeface="Manrope"/>
              <a:sym typeface="Manrope"/>
            </a:endParaRPr>
          </a:p>
        </p:txBody>
      </p:sp>
      <p:sp>
        <p:nvSpPr>
          <p:cNvPr id="123" name="Google Shape;123;p12"/>
          <p:cNvSpPr txBox="1"/>
          <p:nvPr/>
        </p:nvSpPr>
        <p:spPr>
          <a:xfrm>
            <a:off x="990600" y="4267200"/>
            <a:ext cx="3429000" cy="444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700">
                <a:solidFill>
                  <a:srgbClr val="597367"/>
                </a:solidFill>
                <a:latin typeface="Manrope"/>
                <a:ea typeface="Manrope"/>
                <a:cs typeface="Manrope"/>
                <a:sym typeface="Manrope"/>
              </a:rPr>
              <a:t>Protected assets</a:t>
            </a:r>
            <a:endParaRPr sz="1700">
              <a:solidFill>
                <a:srgbClr val="597367"/>
              </a:solidFill>
              <a:latin typeface="Manrope"/>
              <a:ea typeface="Manrope"/>
              <a:cs typeface="Manrope"/>
              <a:sym typeface="Manrope"/>
            </a:endParaRPr>
          </a:p>
        </p:txBody>
      </p:sp>
      <p:sp>
        <p:nvSpPr>
          <p:cNvPr id="124" name="Google Shape;124;p12"/>
          <p:cNvSpPr txBox="1"/>
          <p:nvPr/>
        </p:nvSpPr>
        <p:spPr>
          <a:xfrm>
            <a:off x="4533900" y="4267200"/>
            <a:ext cx="1905000" cy="444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700">
                <a:solidFill>
                  <a:srgbClr val="597367"/>
                </a:solidFill>
                <a:latin typeface="Manrope"/>
                <a:ea typeface="Manrope"/>
                <a:cs typeface="Manrope"/>
                <a:sym typeface="Manrope"/>
              </a:rPr>
              <a:t>Reserve + gas</a:t>
            </a:r>
            <a:endParaRPr sz="1700">
              <a:solidFill>
                <a:srgbClr val="597367"/>
              </a:solidFill>
              <a:latin typeface="Manrope"/>
              <a:ea typeface="Manrope"/>
              <a:cs typeface="Manrope"/>
              <a:sym typeface="Manrope"/>
            </a:endParaRPr>
          </a:p>
        </p:txBody>
      </p:sp>
      <p:cxnSp>
        <p:nvCxnSpPr>
          <p:cNvPr id="125" name="Google Shape;125;p12"/>
          <p:cNvCxnSpPr/>
          <p:nvPr/>
        </p:nvCxnSpPr>
        <p:spPr>
          <a:xfrm>
            <a:off x="1498600" y="4927600"/>
            <a:ext cx="4254600" cy="0"/>
          </a:xfrm>
          <a:prstGeom prst="straightConnector1">
            <a:avLst/>
          </a:prstGeom>
          <a:noFill/>
          <a:ln cap="flat" cmpd="sng" w="25400">
            <a:solidFill>
              <a:srgbClr val="285E49"/>
            </a:solidFill>
            <a:prstDash val="solid"/>
            <a:round/>
            <a:headEnd len="med" w="med" type="none"/>
            <a:tailEnd len="med" w="med" type="none"/>
          </a:ln>
        </p:spPr>
      </p:cxnSp>
      <p:sp>
        <p:nvSpPr>
          <p:cNvPr id="126" name="Google Shape;126;p12"/>
          <p:cNvSpPr txBox="1"/>
          <p:nvPr/>
        </p:nvSpPr>
        <p:spPr>
          <a:xfrm>
            <a:off x="990600" y="5118100"/>
            <a:ext cx="5334000" cy="4446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1800">
                <a:solidFill>
                  <a:srgbClr val="12372C"/>
                </a:solidFill>
                <a:latin typeface="Manrope"/>
                <a:ea typeface="Manrope"/>
                <a:cs typeface="Manrope"/>
                <a:sym typeface="Manrope"/>
              </a:rPr>
              <a:t>Chronicle price references</a:t>
            </a:r>
            <a:endParaRPr b="1" sz="1800">
              <a:solidFill>
                <a:srgbClr val="12372C"/>
              </a:solidFill>
              <a:latin typeface="Manrope"/>
              <a:ea typeface="Manrope"/>
              <a:cs typeface="Manrope"/>
              <a:sym typeface="Manrope"/>
            </a:endParaRPr>
          </a:p>
        </p:txBody>
      </p:sp>
      <p:sp>
        <p:nvSpPr>
          <p:cNvPr id="127" name="Google Shape;127;p12"/>
          <p:cNvSpPr txBox="1"/>
          <p:nvPr/>
        </p:nvSpPr>
        <p:spPr>
          <a:xfrm>
            <a:off x="7429500" y="1955800"/>
            <a:ext cx="41274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200">
                <a:solidFill>
                  <a:srgbClr val="597367"/>
                </a:solidFill>
                <a:latin typeface="Manrope"/>
                <a:ea typeface="Manrope"/>
                <a:cs typeface="Manrope"/>
                <a:sym typeface="Manrope"/>
              </a:rPr>
              <a:t>PROPOSED GRANT WORK</a:t>
            </a:r>
            <a:endParaRPr b="1" sz="1200">
              <a:solidFill>
                <a:srgbClr val="597367"/>
              </a:solidFill>
              <a:latin typeface="Manrope"/>
              <a:ea typeface="Manrope"/>
              <a:cs typeface="Manrope"/>
              <a:sym typeface="Manrope"/>
            </a:endParaRPr>
          </a:p>
        </p:txBody>
      </p:sp>
      <p:sp>
        <p:nvSpPr>
          <p:cNvPr id="128" name="Google Shape;128;p12"/>
          <p:cNvSpPr/>
          <p:nvPr/>
        </p:nvSpPr>
        <p:spPr>
          <a:xfrm>
            <a:off x="7429500" y="2438400"/>
            <a:ext cx="4152900" cy="762000"/>
          </a:xfrm>
          <a:prstGeom prst="rect">
            <a:avLst/>
          </a:prstGeom>
          <a:solidFill>
            <a:srgbClr val="1237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2"/>
          <p:cNvSpPr txBox="1"/>
          <p:nvPr/>
        </p:nvSpPr>
        <p:spPr>
          <a:xfrm>
            <a:off x="7581900" y="2628900"/>
            <a:ext cx="3848100" cy="5079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300">
                <a:solidFill>
                  <a:srgbClr val="F6F5EF"/>
                </a:solidFill>
                <a:latin typeface="Manrope"/>
                <a:ea typeface="Manrope"/>
                <a:cs typeface="Manrope"/>
                <a:sym typeface="Manrope"/>
              </a:rPr>
              <a:t>App Kit Bridge</a:t>
            </a:r>
            <a:endParaRPr b="1" sz="2300">
              <a:solidFill>
                <a:srgbClr val="F6F5EF"/>
              </a:solidFill>
              <a:latin typeface="Manrope"/>
              <a:ea typeface="Manrope"/>
              <a:cs typeface="Manrope"/>
              <a:sym typeface="Manrope"/>
            </a:endParaRPr>
          </a:p>
        </p:txBody>
      </p:sp>
      <p:cxnSp>
        <p:nvCxnSpPr>
          <p:cNvPr id="130" name="Google Shape;130;p12"/>
          <p:cNvCxnSpPr/>
          <p:nvPr/>
        </p:nvCxnSpPr>
        <p:spPr>
          <a:xfrm>
            <a:off x="9499600" y="3200400"/>
            <a:ext cx="0" cy="431700"/>
          </a:xfrm>
          <a:prstGeom prst="straightConnector1">
            <a:avLst/>
          </a:prstGeom>
          <a:noFill/>
          <a:ln cap="flat" cmpd="sng" w="25400">
            <a:solidFill>
              <a:srgbClr val="285E49"/>
            </a:solidFill>
            <a:prstDash val="solid"/>
            <a:round/>
            <a:headEnd len="med" w="med" type="none"/>
            <a:tailEnd len="med" w="med" type="none"/>
          </a:ln>
        </p:spPr>
      </p:cxnSp>
      <p:cxnSp>
        <p:nvCxnSpPr>
          <p:cNvPr id="131" name="Google Shape;131;p12"/>
          <p:cNvCxnSpPr/>
          <p:nvPr/>
        </p:nvCxnSpPr>
        <p:spPr>
          <a:xfrm>
            <a:off x="8382000" y="3632200"/>
            <a:ext cx="2247900" cy="0"/>
          </a:xfrm>
          <a:prstGeom prst="straightConnector1">
            <a:avLst/>
          </a:prstGeom>
          <a:noFill/>
          <a:ln cap="flat" cmpd="sng" w="25400">
            <a:solidFill>
              <a:srgbClr val="285E49"/>
            </a:solidFill>
            <a:prstDash val="solid"/>
            <a:round/>
            <a:headEnd len="med" w="med" type="none"/>
            <a:tailEnd len="med" w="med" type="none"/>
          </a:ln>
        </p:spPr>
      </p:cxnSp>
      <p:cxnSp>
        <p:nvCxnSpPr>
          <p:cNvPr id="132" name="Google Shape;132;p12"/>
          <p:cNvCxnSpPr/>
          <p:nvPr/>
        </p:nvCxnSpPr>
        <p:spPr>
          <a:xfrm>
            <a:off x="8382000" y="3632200"/>
            <a:ext cx="0" cy="368400"/>
          </a:xfrm>
          <a:prstGeom prst="straightConnector1">
            <a:avLst/>
          </a:prstGeom>
          <a:noFill/>
          <a:ln cap="flat" cmpd="sng" w="25400">
            <a:solidFill>
              <a:srgbClr val="285E49"/>
            </a:solidFill>
            <a:prstDash val="dash"/>
            <a:round/>
            <a:headEnd len="med" w="med" type="none"/>
            <a:tailEnd len="med" w="med" type="triangle"/>
          </a:ln>
        </p:spPr>
      </p:cxnSp>
      <p:cxnSp>
        <p:nvCxnSpPr>
          <p:cNvPr id="133" name="Google Shape;133;p12"/>
          <p:cNvCxnSpPr/>
          <p:nvPr/>
        </p:nvCxnSpPr>
        <p:spPr>
          <a:xfrm>
            <a:off x="10629900" y="3632200"/>
            <a:ext cx="0" cy="368400"/>
          </a:xfrm>
          <a:prstGeom prst="straightConnector1">
            <a:avLst/>
          </a:prstGeom>
          <a:noFill/>
          <a:ln cap="flat" cmpd="sng" w="25400">
            <a:solidFill>
              <a:srgbClr val="285E49"/>
            </a:solidFill>
            <a:prstDash val="dash"/>
            <a:round/>
            <a:headEnd len="med" w="med" type="none"/>
            <a:tailEnd len="med" w="med" type="triangle"/>
          </a:ln>
        </p:spPr>
      </p:cxnSp>
      <p:sp>
        <p:nvSpPr>
          <p:cNvPr id="134" name="Google Shape;134;p12"/>
          <p:cNvSpPr txBox="1"/>
          <p:nvPr/>
        </p:nvSpPr>
        <p:spPr>
          <a:xfrm>
            <a:off x="7289800" y="4203700"/>
            <a:ext cx="2159100" cy="850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100">
                <a:solidFill>
                  <a:srgbClr val="12372C"/>
                </a:solidFill>
                <a:latin typeface="Manrope"/>
                <a:ea typeface="Manrope"/>
                <a:cs typeface="Manrope"/>
                <a:sym typeface="Manrope"/>
              </a:rPr>
              <a:t>Ethereum</a:t>
            </a:r>
            <a:endParaRPr b="1" sz="2100">
              <a:solidFill>
                <a:srgbClr val="12372C"/>
              </a:solidFill>
              <a:latin typeface="Manrope"/>
              <a:ea typeface="Manrope"/>
              <a:cs typeface="Manrope"/>
              <a:sym typeface="Manrope"/>
            </a:endParaRPr>
          </a:p>
          <a:p>
            <a:pPr indent="0" lvl="0" marL="0" rtl="0" algn="ctr">
              <a:lnSpc>
                <a:spcPct val="110000"/>
              </a:lnSpc>
              <a:spcBef>
                <a:spcPts val="0"/>
              </a:spcBef>
              <a:spcAft>
                <a:spcPts val="0"/>
              </a:spcAft>
              <a:buNone/>
            </a:pPr>
            <a:r>
              <a:rPr b="1" lang="en-US" sz="2100">
                <a:solidFill>
                  <a:srgbClr val="12372C"/>
                </a:solidFill>
                <a:latin typeface="Manrope"/>
                <a:ea typeface="Manrope"/>
                <a:cs typeface="Manrope"/>
                <a:sym typeface="Manrope"/>
              </a:rPr>
              <a:t>Sepolia</a:t>
            </a:r>
            <a:endParaRPr b="1" sz="2100">
              <a:solidFill>
                <a:srgbClr val="12372C"/>
              </a:solidFill>
              <a:latin typeface="Manrope"/>
              <a:ea typeface="Manrope"/>
              <a:cs typeface="Manrope"/>
              <a:sym typeface="Manrope"/>
            </a:endParaRPr>
          </a:p>
        </p:txBody>
      </p:sp>
      <p:sp>
        <p:nvSpPr>
          <p:cNvPr id="135" name="Google Shape;135;p12"/>
          <p:cNvSpPr txBox="1"/>
          <p:nvPr/>
        </p:nvSpPr>
        <p:spPr>
          <a:xfrm>
            <a:off x="9537700" y="4203700"/>
            <a:ext cx="2159100" cy="8508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US" sz="2100">
                <a:solidFill>
                  <a:srgbClr val="12372C"/>
                </a:solidFill>
                <a:latin typeface="Manrope"/>
                <a:ea typeface="Manrope"/>
                <a:cs typeface="Manrope"/>
                <a:sym typeface="Manrope"/>
              </a:rPr>
              <a:t>Base</a:t>
            </a:r>
            <a:endParaRPr b="1" sz="2100">
              <a:solidFill>
                <a:srgbClr val="12372C"/>
              </a:solidFill>
              <a:latin typeface="Manrope"/>
              <a:ea typeface="Manrope"/>
              <a:cs typeface="Manrope"/>
              <a:sym typeface="Manrope"/>
            </a:endParaRPr>
          </a:p>
          <a:p>
            <a:pPr indent="0" lvl="0" marL="0" rtl="0" algn="ctr">
              <a:lnSpc>
                <a:spcPct val="110000"/>
              </a:lnSpc>
              <a:spcBef>
                <a:spcPts val="0"/>
              </a:spcBef>
              <a:spcAft>
                <a:spcPts val="0"/>
              </a:spcAft>
              <a:buNone/>
            </a:pPr>
            <a:r>
              <a:rPr b="1" lang="en-US" sz="2100">
                <a:solidFill>
                  <a:srgbClr val="12372C"/>
                </a:solidFill>
                <a:latin typeface="Manrope"/>
                <a:ea typeface="Manrope"/>
                <a:cs typeface="Manrope"/>
                <a:sym typeface="Manrope"/>
              </a:rPr>
              <a:t>Sepolia</a:t>
            </a:r>
            <a:endParaRPr b="1" sz="2100">
              <a:solidFill>
                <a:srgbClr val="12372C"/>
              </a:solidFill>
              <a:latin typeface="Manrope"/>
              <a:ea typeface="Manrope"/>
              <a:cs typeface="Manrope"/>
              <a:sym typeface="Manrope"/>
            </a:endParaRPr>
          </a:p>
        </p:txBody>
      </p:sp>
      <p:sp>
        <p:nvSpPr>
          <p:cNvPr id="136" name="Google Shape;136;p12"/>
          <p:cNvSpPr txBox="1"/>
          <p:nvPr/>
        </p:nvSpPr>
        <p:spPr>
          <a:xfrm>
            <a:off x="7315200" y="5219700"/>
            <a:ext cx="4343400" cy="6984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US" sz="1700">
                <a:solidFill>
                  <a:srgbClr val="597367"/>
                </a:solidFill>
                <a:latin typeface="Manrope"/>
                <a:ea typeface="Manrope"/>
                <a:cs typeface="Manrope"/>
                <a:sym typeface="Manrope"/>
              </a:rPr>
              <a:t>USDC + EURC to both destinations</a:t>
            </a:r>
            <a:endParaRPr sz="1700">
              <a:solidFill>
                <a:srgbClr val="597367"/>
              </a:solidFill>
              <a:latin typeface="Manrope"/>
              <a:ea typeface="Manrope"/>
              <a:cs typeface="Manrope"/>
              <a:sym typeface="Manrope"/>
            </a:endParaRPr>
          </a:p>
        </p:txBody>
      </p:sp>
      <p:sp>
        <p:nvSpPr>
          <p:cNvPr id="137" name="Google Shape;137;p12"/>
          <p:cNvSpPr txBox="1"/>
          <p:nvPr/>
        </p:nvSpPr>
        <p:spPr>
          <a:xfrm>
            <a:off x="609600" y="6375400"/>
            <a:ext cx="10160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a:solidFill>
                  <a:srgbClr val="597367"/>
                </a:solidFill>
                <a:latin typeface="Manrope"/>
                <a:ea typeface="Manrope"/>
                <a:cs typeface="Manrope"/>
                <a:sym typeface="Manrope"/>
              </a:rPr>
              <a:t>Planned bridges run separately after an exit or claim. Pools remain on a single chain.</a:t>
            </a:r>
            <a:endParaRPr sz="1100">
              <a:solidFill>
                <a:srgbClr val="597367"/>
              </a:solidFill>
              <a:latin typeface="Manrope"/>
              <a:ea typeface="Manrope"/>
              <a:cs typeface="Manrope"/>
              <a:sym typeface="Manrop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372C"/>
        </a:solidFill>
      </p:bgPr>
    </p:bg>
    <p:spTree>
      <p:nvGrpSpPr>
        <p:cNvPr id="142" name="Shape 142"/>
        <p:cNvGrpSpPr/>
        <p:nvPr/>
      </p:nvGrpSpPr>
      <p:grpSpPr>
        <a:xfrm>
          <a:off x="0" y="0"/>
          <a:ext cx="0" cy="0"/>
          <a:chOff x="0" y="0"/>
          <a:chExt cx="0" cy="0"/>
        </a:xfrm>
      </p:grpSpPr>
      <p:sp>
        <p:nvSpPr>
          <p:cNvPr id="143" name="Google Shape;143;p13"/>
          <p:cNvSpPr txBox="1"/>
          <p:nvPr/>
        </p:nvSpPr>
        <p:spPr>
          <a:xfrm>
            <a:off x="609600" y="279400"/>
            <a:ext cx="5715000" cy="27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100">
                <a:solidFill>
                  <a:srgbClr val="A9C5B1"/>
                </a:solidFill>
                <a:latin typeface="Manrope"/>
                <a:ea typeface="Manrope"/>
                <a:cs typeface="Manrope"/>
                <a:sym typeface="Manrope"/>
              </a:rPr>
              <a:t>YieldShield Arc</a:t>
            </a:r>
            <a:endParaRPr b="1" sz="1100">
              <a:solidFill>
                <a:srgbClr val="A9C5B1"/>
              </a:solidFill>
              <a:latin typeface="Manrope"/>
              <a:ea typeface="Manrope"/>
              <a:cs typeface="Manrope"/>
              <a:sym typeface="Manrope"/>
            </a:endParaRPr>
          </a:p>
        </p:txBody>
      </p:sp>
      <p:sp>
        <p:nvSpPr>
          <p:cNvPr id="144" name="Google Shape;144;p13"/>
          <p:cNvSpPr txBox="1"/>
          <p:nvPr/>
        </p:nvSpPr>
        <p:spPr>
          <a:xfrm>
            <a:off x="609600" y="800100"/>
            <a:ext cx="110490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600">
                <a:solidFill>
                  <a:srgbClr val="F6F5EF"/>
                </a:solidFill>
                <a:latin typeface="Manrope"/>
                <a:ea typeface="Manrope"/>
                <a:cs typeface="Manrope"/>
                <a:sym typeface="Manrope"/>
              </a:rPr>
              <a:t>The deployed testnet product</a:t>
            </a:r>
            <a:endParaRPr b="1" sz="3600">
              <a:solidFill>
                <a:srgbClr val="F6F5EF"/>
              </a:solidFill>
              <a:latin typeface="Manrope"/>
              <a:ea typeface="Manrope"/>
              <a:cs typeface="Manrope"/>
              <a:sym typeface="Manrope"/>
            </a:endParaRPr>
          </a:p>
        </p:txBody>
      </p:sp>
      <p:sp>
        <p:nvSpPr>
          <p:cNvPr id="145" name="Google Shape;145;p13"/>
          <p:cNvSpPr txBox="1"/>
          <p:nvPr/>
        </p:nvSpPr>
        <p:spPr>
          <a:xfrm>
            <a:off x="11099800" y="6438900"/>
            <a:ext cx="4827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n-US" sz="1100">
                <a:solidFill>
                  <a:srgbClr val="A9C5B1"/>
                </a:solidFill>
                <a:latin typeface="Manrope"/>
                <a:ea typeface="Manrope"/>
                <a:cs typeface="Manrope"/>
                <a:sym typeface="Manrope"/>
              </a:rPr>
              <a:t>06</a:t>
            </a:r>
            <a:endParaRPr sz="1100">
              <a:solidFill>
                <a:srgbClr val="A9C5B1"/>
              </a:solidFill>
              <a:latin typeface="Manrope"/>
              <a:ea typeface="Manrope"/>
              <a:cs typeface="Manrope"/>
              <a:sym typeface="Manrope"/>
            </a:endParaRPr>
          </a:p>
        </p:txBody>
      </p:sp>
      <p:sp>
        <p:nvSpPr>
          <p:cNvPr id="146" name="Google Shape;146;p13"/>
          <p:cNvSpPr txBox="1"/>
          <p:nvPr/>
        </p:nvSpPr>
        <p:spPr>
          <a:xfrm>
            <a:off x="8636000" y="2032000"/>
            <a:ext cx="2540100" cy="99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5800">
                <a:solidFill>
                  <a:srgbClr val="ED765E"/>
                </a:solidFill>
                <a:latin typeface="Manrope"/>
                <a:ea typeface="Manrope"/>
                <a:cs typeface="Manrope"/>
                <a:sym typeface="Manrope"/>
              </a:rPr>
              <a:t>3</a:t>
            </a:r>
            <a:endParaRPr b="1" sz="5800">
              <a:solidFill>
                <a:srgbClr val="ED765E"/>
              </a:solidFill>
              <a:latin typeface="Manrope"/>
              <a:ea typeface="Manrope"/>
              <a:cs typeface="Manrope"/>
              <a:sym typeface="Manrope"/>
            </a:endParaRPr>
          </a:p>
        </p:txBody>
      </p:sp>
      <p:sp>
        <p:nvSpPr>
          <p:cNvPr id="147" name="Google Shape;147;p13"/>
          <p:cNvSpPr txBox="1"/>
          <p:nvPr/>
        </p:nvSpPr>
        <p:spPr>
          <a:xfrm>
            <a:off x="8686800" y="2984500"/>
            <a:ext cx="2730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800">
                <a:solidFill>
                  <a:srgbClr val="F6F5EF"/>
                </a:solidFill>
                <a:latin typeface="Manrope"/>
                <a:ea typeface="Manrope"/>
                <a:cs typeface="Manrope"/>
                <a:sym typeface="Manrope"/>
              </a:rPr>
              <a:t>working markets</a:t>
            </a:r>
            <a:endParaRPr sz="1800">
              <a:solidFill>
                <a:srgbClr val="F6F5EF"/>
              </a:solidFill>
              <a:latin typeface="Manrope"/>
              <a:ea typeface="Manrope"/>
              <a:cs typeface="Manrope"/>
              <a:sym typeface="Manrope"/>
            </a:endParaRPr>
          </a:p>
        </p:txBody>
      </p:sp>
      <p:sp>
        <p:nvSpPr>
          <p:cNvPr id="148" name="Google Shape;148;p13"/>
          <p:cNvSpPr txBox="1"/>
          <p:nvPr/>
        </p:nvSpPr>
        <p:spPr>
          <a:xfrm>
            <a:off x="8636000" y="3721100"/>
            <a:ext cx="2540100" cy="990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5800">
                <a:solidFill>
                  <a:srgbClr val="F6F5EF"/>
                </a:solidFill>
                <a:latin typeface="Manrope"/>
                <a:ea typeface="Manrope"/>
                <a:cs typeface="Manrope"/>
                <a:sym typeface="Manrope"/>
              </a:rPr>
              <a:t>72</a:t>
            </a:r>
            <a:endParaRPr b="1" sz="5800">
              <a:solidFill>
                <a:srgbClr val="F6F5EF"/>
              </a:solidFill>
              <a:latin typeface="Manrope"/>
              <a:ea typeface="Manrope"/>
              <a:cs typeface="Manrope"/>
              <a:sym typeface="Manrope"/>
            </a:endParaRPr>
          </a:p>
        </p:txBody>
      </p:sp>
      <p:sp>
        <p:nvSpPr>
          <p:cNvPr id="149" name="Google Shape;149;p13"/>
          <p:cNvSpPr txBox="1"/>
          <p:nvPr/>
        </p:nvSpPr>
        <p:spPr>
          <a:xfrm>
            <a:off x="8686800" y="4699000"/>
            <a:ext cx="2730600" cy="609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800">
                <a:solidFill>
                  <a:srgbClr val="A9C5B1"/>
                </a:solidFill>
                <a:latin typeface="Manrope"/>
                <a:ea typeface="Manrope"/>
                <a:cs typeface="Manrope"/>
                <a:sym typeface="Manrope"/>
              </a:rPr>
              <a:t>contract tests passed</a:t>
            </a:r>
            <a:endParaRPr sz="1800">
              <a:solidFill>
                <a:srgbClr val="A9C5B1"/>
              </a:solidFill>
              <a:latin typeface="Manrope"/>
              <a:ea typeface="Manrope"/>
              <a:cs typeface="Manrope"/>
              <a:sym typeface="Manrope"/>
            </a:endParaRPr>
          </a:p>
        </p:txBody>
      </p:sp>
      <p:sp>
        <p:nvSpPr>
          <p:cNvPr id="150" name="Google Shape;150;p13"/>
          <p:cNvSpPr txBox="1"/>
          <p:nvPr/>
        </p:nvSpPr>
        <p:spPr>
          <a:xfrm>
            <a:off x="609600" y="5880100"/>
            <a:ext cx="7239000" cy="393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900">
                <a:solidFill>
                  <a:srgbClr val="F6F5EF"/>
                </a:solidFill>
                <a:latin typeface="Manrope"/>
                <a:ea typeface="Manrope"/>
                <a:cs typeface="Manrope"/>
                <a:sym typeface="Manrope"/>
              </a:rPr>
              <a:t>arc.yieldshield.ai</a:t>
            </a:r>
            <a:endParaRPr b="1" sz="1900">
              <a:solidFill>
                <a:srgbClr val="F6F5EF"/>
              </a:solidFill>
              <a:latin typeface="Manrope"/>
              <a:ea typeface="Manrope"/>
              <a:cs typeface="Manrope"/>
              <a:sym typeface="Manrope"/>
            </a:endParaRPr>
          </a:p>
        </p:txBody>
      </p:sp>
      <p:sp>
        <p:nvSpPr>
          <p:cNvPr id="151" name="Google Shape;151;p13"/>
          <p:cNvSpPr txBox="1"/>
          <p:nvPr/>
        </p:nvSpPr>
        <p:spPr>
          <a:xfrm>
            <a:off x="609600" y="6375400"/>
            <a:ext cx="10160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a:solidFill>
                  <a:srgbClr val="A9C5B1"/>
                </a:solidFill>
                <a:latin typeface="Manrope"/>
                <a:ea typeface="Manrope"/>
                <a:cs typeface="Manrope"/>
                <a:sym typeface="Manrope"/>
              </a:rPr>
              <a:t>Project-controlled test wallets. No external users or revenue. Tests are not an audit.</a:t>
            </a:r>
            <a:endParaRPr sz="1100">
              <a:solidFill>
                <a:srgbClr val="A9C5B1"/>
              </a:solidFill>
              <a:latin typeface="Manrope"/>
              <a:ea typeface="Manrope"/>
              <a:cs typeface="Manrope"/>
              <a:sym typeface="Manrope"/>
            </a:endParaRPr>
          </a:p>
        </p:txBody>
      </p:sp>
      <p:pic>
        <p:nvPicPr>
          <p:cNvPr descr="Unedited screenshot of the deployed markets page,20October2026,showing the three testnet markets." id="152" name="Google Shape;152;p13" title="Live Arc markets"/>
          <p:cNvPicPr preferRelativeResize="0"/>
          <p:nvPr/>
        </p:nvPicPr>
        <p:blipFill>
          <a:blip r:embed="rId3">
            <a:alphaModFix/>
          </a:blip>
          <a:stretch>
            <a:fillRect/>
          </a:stretch>
        </p:blipFill>
        <p:spPr>
          <a:xfrm>
            <a:off x="609600" y="2133600"/>
            <a:ext cx="7238998" cy="35839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157" name="Shape 157"/>
        <p:cNvGrpSpPr/>
        <p:nvPr/>
      </p:nvGrpSpPr>
      <p:grpSpPr>
        <a:xfrm>
          <a:off x="0" y="0"/>
          <a:ext cx="0" cy="0"/>
          <a:chOff x="0" y="0"/>
          <a:chExt cx="0" cy="0"/>
        </a:xfrm>
      </p:grpSpPr>
      <p:sp>
        <p:nvSpPr>
          <p:cNvPr id="158" name="Google Shape;158;p14"/>
          <p:cNvSpPr txBox="1"/>
          <p:nvPr/>
        </p:nvSpPr>
        <p:spPr>
          <a:xfrm>
            <a:off x="609600" y="279400"/>
            <a:ext cx="5715000" cy="27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100">
                <a:solidFill>
                  <a:srgbClr val="597367"/>
                </a:solidFill>
                <a:latin typeface="Manrope"/>
                <a:ea typeface="Manrope"/>
                <a:cs typeface="Manrope"/>
                <a:sym typeface="Manrope"/>
              </a:rPr>
              <a:t>YieldShield Arc</a:t>
            </a:r>
            <a:endParaRPr b="1" sz="1100">
              <a:solidFill>
                <a:srgbClr val="597367"/>
              </a:solidFill>
              <a:latin typeface="Manrope"/>
              <a:ea typeface="Manrope"/>
              <a:cs typeface="Manrope"/>
              <a:sym typeface="Manrope"/>
            </a:endParaRPr>
          </a:p>
        </p:txBody>
      </p:sp>
      <p:sp>
        <p:nvSpPr>
          <p:cNvPr id="159" name="Google Shape;159;p14"/>
          <p:cNvSpPr txBox="1"/>
          <p:nvPr/>
        </p:nvSpPr>
        <p:spPr>
          <a:xfrm>
            <a:off x="609600" y="800100"/>
            <a:ext cx="110490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600">
                <a:solidFill>
                  <a:srgbClr val="12372C"/>
                </a:solidFill>
                <a:latin typeface="Manrope"/>
                <a:ea typeface="Manrope"/>
                <a:cs typeface="Manrope"/>
                <a:sym typeface="Manrope"/>
              </a:rPr>
              <a:t>A pilot with measurable outcomes</a:t>
            </a:r>
            <a:endParaRPr b="1" sz="3600">
              <a:solidFill>
                <a:srgbClr val="12372C"/>
              </a:solidFill>
              <a:latin typeface="Manrope"/>
              <a:ea typeface="Manrope"/>
              <a:cs typeface="Manrope"/>
              <a:sym typeface="Manrope"/>
            </a:endParaRPr>
          </a:p>
        </p:txBody>
      </p:sp>
      <p:sp>
        <p:nvSpPr>
          <p:cNvPr id="160" name="Google Shape;160;p14"/>
          <p:cNvSpPr txBox="1"/>
          <p:nvPr/>
        </p:nvSpPr>
        <p:spPr>
          <a:xfrm>
            <a:off x="11099800" y="6438900"/>
            <a:ext cx="4827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n-US" sz="1100">
                <a:solidFill>
                  <a:srgbClr val="597367"/>
                </a:solidFill>
                <a:latin typeface="Manrope"/>
                <a:ea typeface="Manrope"/>
                <a:cs typeface="Manrope"/>
                <a:sym typeface="Manrope"/>
              </a:rPr>
              <a:t>07</a:t>
            </a:r>
            <a:endParaRPr sz="1100">
              <a:solidFill>
                <a:srgbClr val="597367"/>
              </a:solidFill>
              <a:latin typeface="Manrope"/>
              <a:ea typeface="Manrope"/>
              <a:cs typeface="Manrope"/>
              <a:sym typeface="Manrope"/>
            </a:endParaRPr>
          </a:p>
        </p:txBody>
      </p:sp>
      <p:sp>
        <p:nvSpPr>
          <p:cNvPr id="161" name="Google Shape;161;p14"/>
          <p:cNvSpPr txBox="1"/>
          <p:nvPr/>
        </p:nvSpPr>
        <p:spPr>
          <a:xfrm>
            <a:off x="609600" y="2095500"/>
            <a:ext cx="2844900" cy="111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6400">
                <a:solidFill>
                  <a:srgbClr val="12372C"/>
                </a:solidFill>
                <a:latin typeface="Manrope"/>
                <a:ea typeface="Manrope"/>
                <a:cs typeface="Manrope"/>
                <a:sym typeface="Manrope"/>
              </a:rPr>
              <a:t>20</a:t>
            </a:r>
            <a:endParaRPr b="1" sz="6400">
              <a:solidFill>
                <a:srgbClr val="12372C"/>
              </a:solidFill>
              <a:latin typeface="Manrope"/>
              <a:ea typeface="Manrope"/>
              <a:cs typeface="Manrope"/>
              <a:sym typeface="Manrope"/>
            </a:endParaRPr>
          </a:p>
        </p:txBody>
      </p:sp>
      <p:sp>
        <p:nvSpPr>
          <p:cNvPr id="162" name="Google Shape;162;p14"/>
          <p:cNvSpPr txBox="1"/>
          <p:nvPr/>
        </p:nvSpPr>
        <p:spPr>
          <a:xfrm>
            <a:off x="4648200" y="2095500"/>
            <a:ext cx="2844900" cy="111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6400">
                <a:solidFill>
                  <a:srgbClr val="ED765E"/>
                </a:solidFill>
                <a:latin typeface="Manrope"/>
                <a:ea typeface="Manrope"/>
                <a:cs typeface="Manrope"/>
                <a:sym typeface="Manrope"/>
              </a:rPr>
              <a:t>10</a:t>
            </a:r>
            <a:endParaRPr b="1" sz="6400">
              <a:solidFill>
                <a:srgbClr val="ED765E"/>
              </a:solidFill>
              <a:latin typeface="Manrope"/>
              <a:ea typeface="Manrope"/>
              <a:cs typeface="Manrope"/>
              <a:sym typeface="Manrope"/>
            </a:endParaRPr>
          </a:p>
        </p:txBody>
      </p:sp>
      <p:sp>
        <p:nvSpPr>
          <p:cNvPr id="163" name="Google Shape;163;p14"/>
          <p:cNvSpPr txBox="1"/>
          <p:nvPr/>
        </p:nvSpPr>
        <p:spPr>
          <a:xfrm>
            <a:off x="8686800" y="2095500"/>
            <a:ext cx="2844900" cy="111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6400">
                <a:solidFill>
                  <a:srgbClr val="12372C"/>
                </a:solidFill>
                <a:latin typeface="Manrope"/>
                <a:ea typeface="Manrope"/>
                <a:cs typeface="Manrope"/>
                <a:sym typeface="Manrope"/>
              </a:rPr>
              <a:t>30</a:t>
            </a:r>
            <a:endParaRPr b="1" sz="6400">
              <a:solidFill>
                <a:srgbClr val="12372C"/>
              </a:solidFill>
              <a:latin typeface="Manrope"/>
              <a:ea typeface="Manrope"/>
              <a:cs typeface="Manrope"/>
              <a:sym typeface="Manrope"/>
            </a:endParaRPr>
          </a:p>
        </p:txBody>
      </p:sp>
      <p:sp>
        <p:nvSpPr>
          <p:cNvPr id="164" name="Google Shape;164;p14"/>
          <p:cNvSpPr txBox="1"/>
          <p:nvPr/>
        </p:nvSpPr>
        <p:spPr>
          <a:xfrm>
            <a:off x="660400" y="3302000"/>
            <a:ext cx="30480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100">
                <a:solidFill>
                  <a:srgbClr val="12372C"/>
                </a:solidFill>
                <a:latin typeface="Manrope"/>
                <a:ea typeface="Manrope"/>
                <a:cs typeface="Manrope"/>
                <a:sym typeface="Manrope"/>
              </a:rPr>
              <a:t>invitations</a:t>
            </a:r>
            <a:endParaRPr b="1" sz="2100">
              <a:solidFill>
                <a:srgbClr val="12372C"/>
              </a:solidFill>
              <a:latin typeface="Manrope"/>
              <a:ea typeface="Manrope"/>
              <a:cs typeface="Manrope"/>
              <a:sym typeface="Manrope"/>
            </a:endParaRPr>
          </a:p>
        </p:txBody>
      </p:sp>
      <p:sp>
        <p:nvSpPr>
          <p:cNvPr id="165" name="Google Shape;165;p14"/>
          <p:cNvSpPr txBox="1"/>
          <p:nvPr/>
        </p:nvSpPr>
        <p:spPr>
          <a:xfrm>
            <a:off x="4699000" y="3302000"/>
            <a:ext cx="30480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100">
                <a:solidFill>
                  <a:srgbClr val="12372C"/>
                </a:solidFill>
                <a:latin typeface="Manrope"/>
                <a:ea typeface="Manrope"/>
                <a:cs typeface="Manrope"/>
                <a:sym typeface="Manrope"/>
              </a:rPr>
              <a:t>external testers</a:t>
            </a:r>
            <a:endParaRPr b="1" sz="2100">
              <a:solidFill>
                <a:srgbClr val="12372C"/>
              </a:solidFill>
              <a:latin typeface="Manrope"/>
              <a:ea typeface="Manrope"/>
              <a:cs typeface="Manrope"/>
              <a:sym typeface="Manrope"/>
            </a:endParaRPr>
          </a:p>
        </p:txBody>
      </p:sp>
      <p:sp>
        <p:nvSpPr>
          <p:cNvPr id="166" name="Google Shape;166;p14"/>
          <p:cNvSpPr txBox="1"/>
          <p:nvPr/>
        </p:nvSpPr>
        <p:spPr>
          <a:xfrm>
            <a:off x="8737600" y="3302000"/>
            <a:ext cx="30480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100">
                <a:solidFill>
                  <a:srgbClr val="12372C"/>
                </a:solidFill>
                <a:latin typeface="Manrope"/>
                <a:ea typeface="Manrope"/>
                <a:cs typeface="Manrope"/>
                <a:sym typeface="Manrope"/>
              </a:rPr>
              <a:t>complete journeys</a:t>
            </a:r>
            <a:endParaRPr b="1" sz="2100">
              <a:solidFill>
                <a:srgbClr val="12372C"/>
              </a:solidFill>
              <a:latin typeface="Manrope"/>
              <a:ea typeface="Manrope"/>
              <a:cs typeface="Manrope"/>
              <a:sym typeface="Manrope"/>
            </a:endParaRPr>
          </a:p>
        </p:txBody>
      </p:sp>
      <p:cxnSp>
        <p:nvCxnSpPr>
          <p:cNvPr id="167" name="Google Shape;167;p14"/>
          <p:cNvCxnSpPr/>
          <p:nvPr/>
        </p:nvCxnSpPr>
        <p:spPr>
          <a:xfrm>
            <a:off x="3467100" y="2819400"/>
            <a:ext cx="838200" cy="0"/>
          </a:xfrm>
          <a:prstGeom prst="straightConnector1">
            <a:avLst/>
          </a:prstGeom>
          <a:noFill/>
          <a:ln cap="flat" cmpd="sng" w="25400">
            <a:solidFill>
              <a:srgbClr val="B5C5B9"/>
            </a:solidFill>
            <a:prstDash val="solid"/>
            <a:round/>
            <a:headEnd len="med" w="med" type="none"/>
            <a:tailEnd len="med" w="med" type="triangle"/>
          </a:ln>
        </p:spPr>
      </p:cxnSp>
      <p:cxnSp>
        <p:nvCxnSpPr>
          <p:cNvPr id="168" name="Google Shape;168;p14"/>
          <p:cNvCxnSpPr/>
          <p:nvPr/>
        </p:nvCxnSpPr>
        <p:spPr>
          <a:xfrm>
            <a:off x="7505700" y="2819400"/>
            <a:ext cx="838200" cy="0"/>
          </a:xfrm>
          <a:prstGeom prst="straightConnector1">
            <a:avLst/>
          </a:prstGeom>
          <a:noFill/>
          <a:ln cap="flat" cmpd="sng" w="25400">
            <a:solidFill>
              <a:srgbClr val="B5C5B9"/>
            </a:solidFill>
            <a:prstDash val="solid"/>
            <a:round/>
            <a:headEnd len="med" w="med" type="none"/>
            <a:tailEnd len="med" w="med" type="triangle"/>
          </a:ln>
        </p:spPr>
      </p:cxnSp>
      <p:sp>
        <p:nvSpPr>
          <p:cNvPr id="169" name="Google Shape;169;p14"/>
          <p:cNvSpPr txBox="1"/>
          <p:nvPr/>
        </p:nvSpPr>
        <p:spPr>
          <a:xfrm>
            <a:off x="609600" y="3962400"/>
            <a:ext cx="3429000" cy="63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700">
                <a:solidFill>
                  <a:srgbClr val="597367"/>
                </a:solidFill>
                <a:latin typeface="Manrope"/>
                <a:ea typeface="Manrope"/>
                <a:cs typeface="Manrope"/>
                <a:sym typeface="Manrope"/>
              </a:rPr>
              <a:t>Five discovery interviews</a:t>
            </a:r>
            <a:endParaRPr sz="1700">
              <a:solidFill>
                <a:srgbClr val="597367"/>
              </a:solidFill>
              <a:latin typeface="Manrope"/>
              <a:ea typeface="Manrope"/>
              <a:cs typeface="Manrope"/>
              <a:sym typeface="Manrope"/>
            </a:endParaRPr>
          </a:p>
        </p:txBody>
      </p:sp>
      <p:sp>
        <p:nvSpPr>
          <p:cNvPr id="170" name="Google Shape;170;p14"/>
          <p:cNvSpPr txBox="1"/>
          <p:nvPr/>
        </p:nvSpPr>
        <p:spPr>
          <a:xfrm>
            <a:off x="4699000" y="3962400"/>
            <a:ext cx="3429000" cy="63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700">
                <a:solidFill>
                  <a:srgbClr val="597367"/>
                </a:solidFill>
                <a:latin typeface="Manrope"/>
                <a:ea typeface="Manrope"/>
                <a:cs typeface="Manrope"/>
                <a:sym typeface="Manrope"/>
              </a:rPr>
              <a:t>At least three teams</a:t>
            </a:r>
            <a:endParaRPr sz="1700">
              <a:solidFill>
                <a:srgbClr val="597367"/>
              </a:solidFill>
              <a:latin typeface="Manrope"/>
              <a:ea typeface="Manrope"/>
              <a:cs typeface="Manrope"/>
              <a:sym typeface="Manrope"/>
            </a:endParaRPr>
          </a:p>
        </p:txBody>
      </p:sp>
      <p:sp>
        <p:nvSpPr>
          <p:cNvPr id="171" name="Google Shape;171;p14"/>
          <p:cNvSpPr txBox="1"/>
          <p:nvPr/>
        </p:nvSpPr>
        <p:spPr>
          <a:xfrm>
            <a:off x="8737600" y="3962400"/>
            <a:ext cx="2921100" cy="82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700">
                <a:solidFill>
                  <a:srgbClr val="597367"/>
                </a:solidFill>
                <a:latin typeface="Manrope"/>
                <a:ea typeface="Manrope"/>
                <a:cs typeface="Manrope"/>
                <a:sym typeface="Manrope"/>
              </a:rPr>
              <a:t>Both exits, maturity</a:t>
            </a:r>
            <a:endParaRPr sz="17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1700">
                <a:solidFill>
                  <a:srgbClr val="597367"/>
                </a:solidFill>
                <a:latin typeface="Manrope"/>
                <a:ea typeface="Manrope"/>
                <a:cs typeface="Manrope"/>
                <a:sym typeface="Manrope"/>
              </a:rPr>
              <a:t>and provider claims</a:t>
            </a:r>
            <a:endParaRPr sz="1700">
              <a:solidFill>
                <a:srgbClr val="597367"/>
              </a:solidFill>
              <a:latin typeface="Manrope"/>
              <a:ea typeface="Manrope"/>
              <a:cs typeface="Manrope"/>
              <a:sym typeface="Manrope"/>
            </a:endParaRPr>
          </a:p>
        </p:txBody>
      </p:sp>
      <p:cxnSp>
        <p:nvCxnSpPr>
          <p:cNvPr id="172" name="Google Shape;172;p14"/>
          <p:cNvCxnSpPr/>
          <p:nvPr/>
        </p:nvCxnSpPr>
        <p:spPr>
          <a:xfrm>
            <a:off x="609600" y="5105400"/>
            <a:ext cx="10972800" cy="0"/>
          </a:xfrm>
          <a:prstGeom prst="straightConnector1">
            <a:avLst/>
          </a:prstGeom>
          <a:noFill/>
          <a:ln cap="flat" cmpd="sng" w="12700">
            <a:solidFill>
              <a:srgbClr val="B5C5B9"/>
            </a:solidFill>
            <a:prstDash val="solid"/>
            <a:round/>
            <a:headEnd len="med" w="med" type="none"/>
            <a:tailEnd len="med" w="med" type="none"/>
          </a:ln>
        </p:spPr>
      </p:cxnSp>
      <p:sp>
        <p:nvSpPr>
          <p:cNvPr id="173" name="Google Shape;173;p14"/>
          <p:cNvSpPr txBox="1"/>
          <p:nvPr/>
        </p:nvSpPr>
        <p:spPr>
          <a:xfrm>
            <a:off x="609600" y="5334000"/>
            <a:ext cx="2412900" cy="73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800">
                <a:solidFill>
                  <a:srgbClr val="285E49"/>
                </a:solidFill>
                <a:latin typeface="Manrope"/>
                <a:ea typeface="Manrope"/>
                <a:cs typeface="Manrope"/>
                <a:sym typeface="Manrope"/>
              </a:rPr>
              <a:t>8 / 10</a:t>
            </a:r>
            <a:endParaRPr b="1" sz="3800">
              <a:solidFill>
                <a:srgbClr val="285E49"/>
              </a:solidFill>
              <a:latin typeface="Manrope"/>
              <a:ea typeface="Manrope"/>
              <a:cs typeface="Manrope"/>
              <a:sym typeface="Manrope"/>
            </a:endParaRPr>
          </a:p>
        </p:txBody>
      </p:sp>
      <p:sp>
        <p:nvSpPr>
          <p:cNvPr id="174" name="Google Shape;174;p14"/>
          <p:cNvSpPr txBox="1"/>
          <p:nvPr/>
        </p:nvSpPr>
        <p:spPr>
          <a:xfrm>
            <a:off x="3111500" y="5397500"/>
            <a:ext cx="8508900" cy="762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800">
                <a:solidFill>
                  <a:srgbClr val="597367"/>
                </a:solidFill>
                <a:latin typeface="Manrope"/>
                <a:ea typeface="Manrope"/>
                <a:cs typeface="Manrope"/>
                <a:sym typeface="Manrope"/>
              </a:rPr>
              <a:t>Target: complete a core flow without live help.</a:t>
            </a:r>
            <a:endParaRPr sz="18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1800">
                <a:solidFill>
                  <a:srgbClr val="597367"/>
                </a:solidFill>
                <a:latin typeface="Manrope"/>
                <a:ea typeface="Manrope"/>
                <a:cs typeface="Manrope"/>
                <a:sym typeface="Manrope"/>
              </a:rPr>
              <a:t>Publish failures and fixes, then seek follow-on integrations.</a:t>
            </a:r>
            <a:endParaRPr sz="1800">
              <a:solidFill>
                <a:srgbClr val="597367"/>
              </a:solidFill>
              <a:latin typeface="Manrope"/>
              <a:ea typeface="Manrope"/>
              <a:cs typeface="Manrope"/>
              <a:sym typeface="Manrope"/>
            </a:endParaRPr>
          </a:p>
        </p:txBody>
      </p:sp>
      <p:sp>
        <p:nvSpPr>
          <p:cNvPr id="175" name="Google Shape;175;p14"/>
          <p:cNvSpPr txBox="1"/>
          <p:nvPr/>
        </p:nvSpPr>
        <p:spPr>
          <a:xfrm>
            <a:off x="609600" y="6375400"/>
            <a:ext cx="10160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a:solidFill>
                  <a:srgbClr val="597367"/>
                </a:solidFill>
                <a:latin typeface="Manrope"/>
                <a:ea typeface="Manrope"/>
                <a:cs typeface="Manrope"/>
                <a:sym typeface="Manrope"/>
              </a:rPr>
              <a:t>Future targets. No tester or partnership commitments claimed.</a:t>
            </a:r>
            <a:endParaRPr sz="1100">
              <a:solidFill>
                <a:srgbClr val="597367"/>
              </a:solidFill>
              <a:latin typeface="Manrope"/>
              <a:ea typeface="Manrope"/>
              <a:cs typeface="Manrope"/>
              <a:sym typeface="Manro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EF"/>
        </a:solidFill>
      </p:bgPr>
    </p:bg>
    <p:spTree>
      <p:nvGrpSpPr>
        <p:cNvPr id="180" name="Shape 180"/>
        <p:cNvGrpSpPr/>
        <p:nvPr/>
      </p:nvGrpSpPr>
      <p:grpSpPr>
        <a:xfrm>
          <a:off x="0" y="0"/>
          <a:ext cx="0" cy="0"/>
          <a:chOff x="0" y="0"/>
          <a:chExt cx="0" cy="0"/>
        </a:xfrm>
      </p:grpSpPr>
      <p:pic>
        <p:nvPicPr>
          <p:cNvPr descr="Founder portrait reused from the labeled team slide in YieldShield V0.13 Robinhood." id="181" name="Google Shape;181;p15" title="David Hawig"/>
          <p:cNvPicPr preferRelativeResize="0"/>
          <p:nvPr/>
        </p:nvPicPr>
        <p:blipFill>
          <a:blip r:embed="rId3">
            <a:alphaModFix/>
          </a:blip>
          <a:stretch>
            <a:fillRect/>
          </a:stretch>
        </p:blipFill>
        <p:spPr>
          <a:xfrm>
            <a:off x="698500" y="1968500"/>
            <a:ext cx="2476500" cy="2476500"/>
          </a:xfrm>
          <a:prstGeom prst="rect">
            <a:avLst/>
          </a:prstGeom>
          <a:noFill/>
          <a:ln>
            <a:noFill/>
          </a:ln>
        </p:spPr>
      </p:pic>
      <p:pic>
        <p:nvPicPr>
          <p:cNvPr descr="Cofounder portrait reused from the labeled team slide in YieldShield V0.13 Robinhood." id="182" name="Google Shape;182;p15" title="Santiago Balaguer"/>
          <p:cNvPicPr preferRelativeResize="0"/>
          <p:nvPr/>
        </p:nvPicPr>
        <p:blipFill>
          <a:blip r:embed="rId4">
            <a:alphaModFix/>
          </a:blip>
          <a:stretch>
            <a:fillRect/>
          </a:stretch>
        </p:blipFill>
        <p:spPr>
          <a:xfrm>
            <a:off x="6413500" y="1968500"/>
            <a:ext cx="2476500" cy="2476500"/>
          </a:xfrm>
          <a:prstGeom prst="rect">
            <a:avLst/>
          </a:prstGeom>
          <a:noFill/>
          <a:ln>
            <a:noFill/>
          </a:ln>
        </p:spPr>
      </p:pic>
      <p:sp>
        <p:nvSpPr>
          <p:cNvPr id="183" name="Google Shape;183;p15"/>
          <p:cNvSpPr txBox="1"/>
          <p:nvPr/>
        </p:nvSpPr>
        <p:spPr>
          <a:xfrm>
            <a:off x="609600" y="279400"/>
            <a:ext cx="5715000" cy="27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100">
                <a:solidFill>
                  <a:srgbClr val="597367"/>
                </a:solidFill>
                <a:latin typeface="Manrope"/>
                <a:ea typeface="Manrope"/>
                <a:cs typeface="Manrope"/>
                <a:sym typeface="Manrope"/>
              </a:rPr>
              <a:t>YieldShield Arc</a:t>
            </a:r>
            <a:endParaRPr b="1" sz="1100">
              <a:solidFill>
                <a:srgbClr val="597367"/>
              </a:solidFill>
              <a:latin typeface="Manrope"/>
              <a:ea typeface="Manrope"/>
              <a:cs typeface="Manrope"/>
              <a:sym typeface="Manrope"/>
            </a:endParaRPr>
          </a:p>
        </p:txBody>
      </p:sp>
      <p:sp>
        <p:nvSpPr>
          <p:cNvPr id="184" name="Google Shape;184;p15"/>
          <p:cNvSpPr txBox="1"/>
          <p:nvPr/>
        </p:nvSpPr>
        <p:spPr>
          <a:xfrm>
            <a:off x="609600" y="800100"/>
            <a:ext cx="110490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600">
                <a:solidFill>
                  <a:srgbClr val="12372C"/>
                </a:solidFill>
                <a:latin typeface="Manrope"/>
                <a:ea typeface="Manrope"/>
                <a:cs typeface="Manrope"/>
                <a:sym typeface="Manrope"/>
              </a:rPr>
              <a:t>The founders</a:t>
            </a:r>
            <a:endParaRPr b="1" sz="3600">
              <a:solidFill>
                <a:srgbClr val="12372C"/>
              </a:solidFill>
              <a:latin typeface="Manrope"/>
              <a:ea typeface="Manrope"/>
              <a:cs typeface="Manrope"/>
              <a:sym typeface="Manrope"/>
            </a:endParaRPr>
          </a:p>
        </p:txBody>
      </p:sp>
      <p:sp>
        <p:nvSpPr>
          <p:cNvPr id="185" name="Google Shape;185;p15"/>
          <p:cNvSpPr txBox="1"/>
          <p:nvPr/>
        </p:nvSpPr>
        <p:spPr>
          <a:xfrm>
            <a:off x="11099800" y="6438900"/>
            <a:ext cx="4827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n-US" sz="1100">
                <a:solidFill>
                  <a:srgbClr val="597367"/>
                </a:solidFill>
                <a:latin typeface="Manrope"/>
                <a:ea typeface="Manrope"/>
                <a:cs typeface="Manrope"/>
                <a:sym typeface="Manrope"/>
              </a:rPr>
              <a:t>08</a:t>
            </a:r>
            <a:endParaRPr sz="1100">
              <a:solidFill>
                <a:srgbClr val="597367"/>
              </a:solidFill>
              <a:latin typeface="Manrope"/>
              <a:ea typeface="Manrope"/>
              <a:cs typeface="Manrope"/>
              <a:sym typeface="Manrope"/>
            </a:endParaRPr>
          </a:p>
        </p:txBody>
      </p:sp>
      <p:sp>
        <p:nvSpPr>
          <p:cNvPr id="186" name="Google Shape;186;p15"/>
          <p:cNvSpPr txBox="1"/>
          <p:nvPr/>
        </p:nvSpPr>
        <p:spPr>
          <a:xfrm>
            <a:off x="3365500" y="2108200"/>
            <a:ext cx="2793900" cy="96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2372C"/>
                </a:solidFill>
                <a:latin typeface="Manrope"/>
                <a:ea typeface="Manrope"/>
                <a:cs typeface="Manrope"/>
                <a:sym typeface="Manrope"/>
              </a:rPr>
              <a:t>David Hawig</a:t>
            </a:r>
            <a:endParaRPr b="1" sz="2900">
              <a:solidFill>
                <a:srgbClr val="12372C"/>
              </a:solidFill>
              <a:latin typeface="Manrope"/>
              <a:ea typeface="Manrope"/>
              <a:cs typeface="Manrope"/>
              <a:sym typeface="Manrope"/>
            </a:endParaRPr>
          </a:p>
        </p:txBody>
      </p:sp>
      <p:sp>
        <p:nvSpPr>
          <p:cNvPr id="187" name="Google Shape;187;p15"/>
          <p:cNvSpPr txBox="1"/>
          <p:nvPr/>
        </p:nvSpPr>
        <p:spPr>
          <a:xfrm>
            <a:off x="3365500" y="3124200"/>
            <a:ext cx="2793900" cy="81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700">
                <a:solidFill>
                  <a:srgbClr val="285E49"/>
                </a:solidFill>
                <a:latin typeface="Manrope"/>
                <a:ea typeface="Manrope"/>
                <a:cs typeface="Manrope"/>
                <a:sym typeface="Manrope"/>
              </a:rPr>
              <a:t>Founder</a:t>
            </a:r>
            <a:endParaRPr sz="1700">
              <a:solidFill>
                <a:srgbClr val="285E49"/>
              </a:solidFill>
              <a:latin typeface="Manrope"/>
              <a:ea typeface="Manrope"/>
              <a:cs typeface="Manrope"/>
              <a:sym typeface="Manrope"/>
            </a:endParaRPr>
          </a:p>
          <a:p>
            <a:pPr indent="0" lvl="0" marL="0" rtl="0" algn="l">
              <a:lnSpc>
                <a:spcPct val="110000"/>
              </a:lnSpc>
              <a:spcBef>
                <a:spcPts val="0"/>
              </a:spcBef>
              <a:spcAft>
                <a:spcPts val="0"/>
              </a:spcAft>
              <a:buNone/>
            </a:pPr>
            <a:r>
              <a:rPr lang="en-US" sz="1700">
                <a:solidFill>
                  <a:srgbClr val="285E49"/>
                </a:solidFill>
                <a:latin typeface="Manrope"/>
                <a:ea typeface="Manrope"/>
                <a:cs typeface="Manrope"/>
                <a:sym typeface="Manrope"/>
              </a:rPr>
              <a:t>Managing Director</a:t>
            </a:r>
            <a:endParaRPr sz="1700">
              <a:solidFill>
                <a:srgbClr val="285E49"/>
              </a:solidFill>
              <a:latin typeface="Manrope"/>
              <a:ea typeface="Manrope"/>
              <a:cs typeface="Manrope"/>
              <a:sym typeface="Manrope"/>
            </a:endParaRPr>
          </a:p>
        </p:txBody>
      </p:sp>
      <p:sp>
        <p:nvSpPr>
          <p:cNvPr id="188" name="Google Shape;188;p15"/>
          <p:cNvSpPr txBox="1"/>
          <p:nvPr/>
        </p:nvSpPr>
        <p:spPr>
          <a:xfrm>
            <a:off x="9080500" y="2108200"/>
            <a:ext cx="2793900" cy="96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900">
                <a:solidFill>
                  <a:srgbClr val="12372C"/>
                </a:solidFill>
                <a:latin typeface="Manrope"/>
                <a:ea typeface="Manrope"/>
                <a:cs typeface="Manrope"/>
                <a:sym typeface="Manrope"/>
              </a:rPr>
              <a:t>Santiago</a:t>
            </a:r>
            <a:endParaRPr b="1" sz="2900">
              <a:solidFill>
                <a:srgbClr val="12372C"/>
              </a:solidFill>
              <a:latin typeface="Manrope"/>
              <a:ea typeface="Manrope"/>
              <a:cs typeface="Manrope"/>
              <a:sym typeface="Manrope"/>
            </a:endParaRPr>
          </a:p>
          <a:p>
            <a:pPr indent="0" lvl="0" marL="0" rtl="0" algn="l">
              <a:lnSpc>
                <a:spcPct val="110000"/>
              </a:lnSpc>
              <a:spcBef>
                <a:spcPts val="0"/>
              </a:spcBef>
              <a:spcAft>
                <a:spcPts val="0"/>
              </a:spcAft>
              <a:buNone/>
            </a:pPr>
            <a:r>
              <a:rPr b="1" lang="en-US" sz="2900">
                <a:solidFill>
                  <a:srgbClr val="12372C"/>
                </a:solidFill>
                <a:latin typeface="Manrope"/>
                <a:ea typeface="Manrope"/>
                <a:cs typeface="Manrope"/>
                <a:sym typeface="Manrope"/>
              </a:rPr>
              <a:t>Balaguer</a:t>
            </a:r>
            <a:endParaRPr b="1" sz="2900">
              <a:solidFill>
                <a:srgbClr val="12372C"/>
              </a:solidFill>
              <a:latin typeface="Manrope"/>
              <a:ea typeface="Manrope"/>
              <a:cs typeface="Manrope"/>
              <a:sym typeface="Manrope"/>
            </a:endParaRPr>
          </a:p>
        </p:txBody>
      </p:sp>
      <p:sp>
        <p:nvSpPr>
          <p:cNvPr id="189" name="Google Shape;189;p15"/>
          <p:cNvSpPr txBox="1"/>
          <p:nvPr/>
        </p:nvSpPr>
        <p:spPr>
          <a:xfrm>
            <a:off x="9080500" y="3124200"/>
            <a:ext cx="2793900" cy="81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700">
                <a:solidFill>
                  <a:srgbClr val="285E49"/>
                </a:solidFill>
                <a:latin typeface="Manrope"/>
                <a:ea typeface="Manrope"/>
                <a:cs typeface="Manrope"/>
                <a:sym typeface="Manrope"/>
              </a:rPr>
              <a:t>Cofounder</a:t>
            </a:r>
            <a:endParaRPr sz="1700">
              <a:solidFill>
                <a:srgbClr val="285E49"/>
              </a:solidFill>
              <a:latin typeface="Manrope"/>
              <a:ea typeface="Manrope"/>
              <a:cs typeface="Manrope"/>
              <a:sym typeface="Manrope"/>
            </a:endParaRPr>
          </a:p>
          <a:p>
            <a:pPr indent="0" lvl="0" marL="0" rtl="0" algn="l">
              <a:lnSpc>
                <a:spcPct val="110000"/>
              </a:lnSpc>
              <a:spcBef>
                <a:spcPts val="0"/>
              </a:spcBef>
              <a:spcAft>
                <a:spcPts val="0"/>
              </a:spcAft>
              <a:buNone/>
            </a:pPr>
            <a:r>
              <a:rPr lang="en-US" sz="1700">
                <a:solidFill>
                  <a:srgbClr val="285E49"/>
                </a:solidFill>
                <a:latin typeface="Manrope"/>
                <a:ea typeface="Manrope"/>
                <a:cs typeface="Manrope"/>
                <a:sym typeface="Manrope"/>
              </a:rPr>
              <a:t>Product Lead</a:t>
            </a:r>
            <a:endParaRPr sz="1700">
              <a:solidFill>
                <a:srgbClr val="285E49"/>
              </a:solidFill>
              <a:latin typeface="Manrope"/>
              <a:ea typeface="Manrope"/>
              <a:cs typeface="Manrope"/>
              <a:sym typeface="Manrope"/>
            </a:endParaRPr>
          </a:p>
        </p:txBody>
      </p:sp>
      <p:sp>
        <p:nvSpPr>
          <p:cNvPr id="190" name="Google Shape;190;p15"/>
          <p:cNvSpPr txBox="1"/>
          <p:nvPr/>
        </p:nvSpPr>
        <p:spPr>
          <a:xfrm>
            <a:off x="609600" y="4826000"/>
            <a:ext cx="5460900" cy="952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900">
                <a:solidFill>
                  <a:srgbClr val="597367"/>
                </a:solidFill>
                <a:latin typeface="Manrope"/>
                <a:ea typeface="Manrope"/>
                <a:cs typeface="Manrope"/>
                <a:sym typeface="Manrope"/>
              </a:rPr>
              <a:t>Former Web3 Foundation ecosystem director</a:t>
            </a:r>
            <a:endParaRPr sz="19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1900">
                <a:solidFill>
                  <a:srgbClr val="597367"/>
                </a:solidFill>
                <a:latin typeface="Manrope"/>
                <a:ea typeface="Manrope"/>
                <a:cs typeface="Manrope"/>
                <a:sym typeface="Manrope"/>
              </a:rPr>
              <a:t>Founded and exited two startups</a:t>
            </a:r>
            <a:endParaRPr sz="1900">
              <a:solidFill>
                <a:srgbClr val="597367"/>
              </a:solidFill>
              <a:latin typeface="Manrope"/>
              <a:ea typeface="Manrope"/>
              <a:cs typeface="Manrope"/>
              <a:sym typeface="Manrope"/>
            </a:endParaRPr>
          </a:p>
        </p:txBody>
      </p:sp>
      <p:sp>
        <p:nvSpPr>
          <p:cNvPr id="191" name="Google Shape;191;p15"/>
          <p:cNvSpPr txBox="1"/>
          <p:nvPr/>
        </p:nvSpPr>
        <p:spPr>
          <a:xfrm>
            <a:off x="6413500" y="4826000"/>
            <a:ext cx="5143500" cy="952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900">
                <a:solidFill>
                  <a:srgbClr val="597367"/>
                </a:solidFill>
                <a:latin typeface="Manrope"/>
                <a:ea typeface="Manrope"/>
                <a:cs typeface="Manrope"/>
                <a:sym typeface="Manrope"/>
              </a:rPr>
              <a:t>15 years in product</a:t>
            </a:r>
            <a:endParaRPr sz="1900">
              <a:solidFill>
                <a:srgbClr val="597367"/>
              </a:solidFill>
              <a:latin typeface="Manrope"/>
              <a:ea typeface="Manrope"/>
              <a:cs typeface="Manrope"/>
              <a:sym typeface="Manrope"/>
            </a:endParaRPr>
          </a:p>
          <a:p>
            <a:pPr indent="0" lvl="0" marL="0" rtl="0" algn="l">
              <a:lnSpc>
                <a:spcPct val="110000"/>
              </a:lnSpc>
              <a:spcBef>
                <a:spcPts val="0"/>
              </a:spcBef>
              <a:spcAft>
                <a:spcPts val="0"/>
              </a:spcAft>
              <a:buNone/>
            </a:pPr>
            <a:r>
              <a:rPr lang="en-US" sz="1900">
                <a:solidFill>
                  <a:srgbClr val="597367"/>
                </a:solidFill>
                <a:latin typeface="Manrope"/>
                <a:ea typeface="Manrope"/>
                <a:cs typeface="Manrope"/>
                <a:sym typeface="Manrope"/>
              </a:rPr>
              <a:t>5 years in crypto</a:t>
            </a:r>
            <a:endParaRPr sz="1900">
              <a:solidFill>
                <a:srgbClr val="597367"/>
              </a:solidFill>
              <a:latin typeface="Manrope"/>
              <a:ea typeface="Manrope"/>
              <a:cs typeface="Manrope"/>
              <a:sym typeface="Manrope"/>
            </a:endParaRPr>
          </a:p>
        </p:txBody>
      </p:sp>
      <p:sp>
        <p:nvSpPr>
          <p:cNvPr id="192" name="Google Shape;192;p15"/>
          <p:cNvSpPr txBox="1"/>
          <p:nvPr/>
        </p:nvSpPr>
        <p:spPr>
          <a:xfrm>
            <a:off x="609600" y="6375400"/>
            <a:ext cx="10160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a:solidFill>
                  <a:srgbClr val="597367"/>
                </a:solidFill>
                <a:latin typeface="Manrope"/>
                <a:ea typeface="Manrope"/>
                <a:cs typeface="Manrope"/>
                <a:sym typeface="Manrope"/>
              </a:rPr>
              <a:t>Hawig Ventures UG, Germany. Self-funded. No grants or investment received.</a:t>
            </a:r>
            <a:endParaRPr sz="1100">
              <a:solidFill>
                <a:srgbClr val="597367"/>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372C"/>
        </a:solidFill>
      </p:bgPr>
    </p:bg>
    <p:spTree>
      <p:nvGrpSpPr>
        <p:cNvPr id="197" name="Shape 197"/>
        <p:cNvGrpSpPr/>
        <p:nvPr/>
      </p:nvGrpSpPr>
      <p:grpSpPr>
        <a:xfrm>
          <a:off x="0" y="0"/>
          <a:ext cx="0" cy="0"/>
          <a:chOff x="0" y="0"/>
          <a:chExt cx="0" cy="0"/>
        </a:xfrm>
      </p:grpSpPr>
      <p:graphicFrame>
        <p:nvGraphicFramePr>
          <p:cNvPr id="198" name="Google Shape;198;p16"/>
          <p:cNvGraphicFramePr/>
          <p:nvPr/>
        </p:nvGraphicFramePr>
        <p:xfrm>
          <a:off x="609600" y="2921000"/>
          <a:ext cx="3000000" cy="3000000"/>
        </p:xfrm>
        <a:graphic>
          <a:graphicData uri="http://schemas.openxmlformats.org/drawingml/2006/table">
            <a:tbl>
              <a:tblPr>
                <a:noFill/>
                <a:tableStyleId>{30899E53-AFA6-4102-B3E8-FE469F0F8C8C}</a:tableStyleId>
              </a:tblPr>
              <a:tblGrid>
                <a:gridCol w="2984500"/>
                <a:gridCol w="5397500"/>
                <a:gridCol w="965200"/>
                <a:gridCol w="1625600"/>
              </a:tblGrid>
              <a:tr h="482600">
                <a:tc>
                  <a:txBody>
                    <a:bodyPr/>
                    <a:lstStyle/>
                    <a:p>
                      <a:pPr indent="0" lvl="0" marL="0" rtl="0" algn="l">
                        <a:lnSpc>
                          <a:spcPct val="100000"/>
                        </a:lnSpc>
                        <a:spcBef>
                          <a:spcPts val="0"/>
                        </a:spcBef>
                        <a:spcAft>
                          <a:spcPts val="0"/>
                        </a:spcAft>
                        <a:buNone/>
                      </a:pPr>
                      <a:r>
                        <a:rPr b="1" lang="en-US" sz="1300">
                          <a:solidFill>
                            <a:srgbClr val="A9C5B1"/>
                          </a:solidFill>
                          <a:latin typeface="Manrope"/>
                          <a:ea typeface="Manrope"/>
                          <a:cs typeface="Manrope"/>
                          <a:sym typeface="Manrope"/>
                        </a:rPr>
                        <a:t>Deliverable</a:t>
                      </a:r>
                      <a:endParaRPr b="1" sz="1300">
                        <a:solidFill>
                          <a:srgbClr val="A9C5B1"/>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b="1" lang="en-US" sz="1300">
                          <a:solidFill>
                            <a:srgbClr val="A9C5B1"/>
                          </a:solidFill>
                          <a:latin typeface="Manrope"/>
                          <a:ea typeface="Manrope"/>
                          <a:cs typeface="Manrope"/>
                          <a:sym typeface="Manrope"/>
                        </a:rPr>
                        <a:t>Acceptance / target</a:t>
                      </a:r>
                      <a:endParaRPr b="1" sz="1300">
                        <a:solidFill>
                          <a:srgbClr val="A9C5B1"/>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b="1" lang="en-US" sz="1300">
                          <a:solidFill>
                            <a:srgbClr val="A9C5B1"/>
                          </a:solidFill>
                          <a:latin typeface="Manrope"/>
                          <a:ea typeface="Manrope"/>
                          <a:cs typeface="Manrope"/>
                          <a:sym typeface="Manrope"/>
                        </a:rPr>
                        <a:t>Hours</a:t>
                      </a:r>
                      <a:endParaRPr b="1" sz="1300">
                        <a:solidFill>
                          <a:srgbClr val="A9C5B1"/>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b="1" lang="en-US" sz="1300">
                          <a:solidFill>
                            <a:srgbClr val="A9C5B1"/>
                          </a:solidFill>
                          <a:latin typeface="Manrope"/>
                          <a:ea typeface="Manrope"/>
                          <a:cs typeface="Manrope"/>
                          <a:sym typeface="Manrope"/>
                        </a:rPr>
                        <a:t>Budget</a:t>
                      </a:r>
                      <a:endParaRPr b="1" sz="1300">
                        <a:solidFill>
                          <a:srgbClr val="A9C5B1"/>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r>
              <a:tr h="482600">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Bridge exits</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4 transfers + recovery / week 3</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35</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b="1" lang="en-US" sz="1600">
                          <a:solidFill>
                            <a:srgbClr val="F6F5EF"/>
                          </a:solidFill>
                          <a:latin typeface="Manrope"/>
                          <a:ea typeface="Manrope"/>
                          <a:cs typeface="Manrope"/>
                          <a:sym typeface="Manrope"/>
                        </a:rPr>
                        <a:t>$3,500</a:t>
                      </a:r>
                      <a:endParaRPr b="1"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r>
              <a:tr h="482600">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Agent integration</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Unsigned tools / week 6</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45</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b="1" lang="en-US" sz="1600">
                          <a:solidFill>
                            <a:srgbClr val="F6F5EF"/>
                          </a:solidFill>
                          <a:latin typeface="Manrope"/>
                          <a:ea typeface="Manrope"/>
                          <a:cs typeface="Manrope"/>
                          <a:sym typeface="Manrope"/>
                        </a:rPr>
                        <a:t>$4,500</a:t>
                      </a:r>
                      <a:endParaRPr b="1"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r>
              <a:tr h="482600">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Pilot + hardening</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10 testers, 30 journeys / week 9</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lang="en-US" sz="1600">
                          <a:solidFill>
                            <a:srgbClr val="F6F5EF"/>
                          </a:solidFill>
                          <a:latin typeface="Manrope"/>
                          <a:ea typeface="Manrope"/>
                          <a:cs typeface="Manrope"/>
                          <a:sym typeface="Manrope"/>
                        </a:rPr>
                        <a:t>30</a:t>
                      </a:r>
                      <a:endParaRPr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b="1" lang="en-US" sz="1600">
                          <a:solidFill>
                            <a:srgbClr val="F6F5EF"/>
                          </a:solidFill>
                          <a:latin typeface="Manrope"/>
                          <a:ea typeface="Manrope"/>
                          <a:cs typeface="Manrope"/>
                          <a:sym typeface="Manrope"/>
                        </a:rPr>
                        <a:t>$3,000</a:t>
                      </a:r>
                      <a:endParaRPr b="1" sz="1600">
                        <a:solidFill>
                          <a:srgbClr val="F6F5EF"/>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r>
              <a:tr h="482600">
                <a:tc>
                  <a:txBody>
                    <a:bodyPr/>
                    <a:lstStyle/>
                    <a:p>
                      <a:pPr indent="0" lvl="0" marL="0" rtl="0" algn="l">
                        <a:lnSpc>
                          <a:spcPct val="100000"/>
                        </a:lnSpc>
                        <a:spcBef>
                          <a:spcPts val="0"/>
                        </a:spcBef>
                        <a:spcAft>
                          <a:spcPts val="0"/>
                        </a:spcAft>
                        <a:buNone/>
                      </a:pPr>
                      <a:r>
                        <a:rPr lang="en-US" sz="1600">
                          <a:solidFill>
                            <a:srgbClr val="ED765E"/>
                          </a:solidFill>
                          <a:latin typeface="Manrope"/>
                          <a:ea typeface="Manrope"/>
                          <a:cs typeface="Manrope"/>
                          <a:sym typeface="Manrope"/>
                        </a:rPr>
                        <a:t>Capped mainnet</a:t>
                      </a:r>
                      <a:endParaRPr sz="1600">
                        <a:solidFill>
                          <a:srgbClr val="ED765E"/>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lang="en-US" sz="1600">
                          <a:solidFill>
                            <a:srgbClr val="ED765E"/>
                          </a:solidFill>
                          <a:latin typeface="Manrope"/>
                          <a:ea typeface="Manrope"/>
                          <a:cs typeface="Manrope"/>
                          <a:sym typeface="Manrope"/>
                        </a:rPr>
                        <a:t>After audit + legal review</a:t>
                      </a:r>
                      <a:endParaRPr sz="1600">
                        <a:solidFill>
                          <a:srgbClr val="ED765E"/>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lang="en-US" sz="1600">
                          <a:solidFill>
                            <a:srgbClr val="ED765E"/>
                          </a:solidFill>
                          <a:latin typeface="Manrope"/>
                          <a:ea typeface="Manrope"/>
                          <a:cs typeface="Manrope"/>
                          <a:sym typeface="Manrope"/>
                        </a:rPr>
                        <a:t>50</a:t>
                      </a:r>
                      <a:endParaRPr sz="1600">
                        <a:solidFill>
                          <a:srgbClr val="ED765E"/>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c>
                  <a:txBody>
                    <a:bodyPr/>
                    <a:lstStyle/>
                    <a:p>
                      <a:pPr indent="0" lvl="0" marL="0" rtl="0" algn="l">
                        <a:lnSpc>
                          <a:spcPct val="100000"/>
                        </a:lnSpc>
                        <a:spcBef>
                          <a:spcPts val="0"/>
                        </a:spcBef>
                        <a:spcAft>
                          <a:spcPts val="0"/>
                        </a:spcAft>
                        <a:buNone/>
                      </a:pPr>
                      <a:r>
                        <a:rPr b="1" lang="en-US" sz="1600">
                          <a:solidFill>
                            <a:srgbClr val="ED765E"/>
                          </a:solidFill>
                          <a:latin typeface="Manrope"/>
                          <a:ea typeface="Manrope"/>
                          <a:cs typeface="Manrope"/>
                          <a:sym typeface="Manrope"/>
                        </a:rPr>
                        <a:t>$5,000</a:t>
                      </a:r>
                      <a:endParaRPr b="1" sz="1600">
                        <a:solidFill>
                          <a:srgbClr val="ED765E"/>
                        </a:solidFill>
                        <a:latin typeface="Manrope"/>
                        <a:ea typeface="Manrope"/>
                        <a:cs typeface="Manrope"/>
                        <a:sym typeface="Manrope"/>
                      </a:endParaRPr>
                    </a:p>
                  </a:txBody>
                  <a:tcPr marT="91425" marB="91425" marR="91425" marL="91425" anchor="ctr">
                    <a:lnL cap="flat" cmpd="sng" w="7625">
                      <a:solidFill>
                        <a:srgbClr val="285E49"/>
                      </a:solidFill>
                      <a:prstDash val="solid"/>
                      <a:round/>
                      <a:headEnd len="sm" w="sm" type="none"/>
                      <a:tailEnd len="sm" w="sm" type="none"/>
                    </a:lnL>
                    <a:lnR cap="flat" cmpd="sng" w="7625">
                      <a:solidFill>
                        <a:srgbClr val="285E49"/>
                      </a:solidFill>
                      <a:prstDash val="solid"/>
                      <a:round/>
                      <a:headEnd len="sm" w="sm" type="none"/>
                      <a:tailEnd len="sm" w="sm" type="none"/>
                    </a:lnR>
                    <a:lnT cap="flat" cmpd="sng" w="7625">
                      <a:solidFill>
                        <a:srgbClr val="285E49"/>
                      </a:solidFill>
                      <a:prstDash val="solid"/>
                      <a:round/>
                      <a:headEnd len="sm" w="sm" type="none"/>
                      <a:tailEnd len="sm" w="sm" type="none"/>
                    </a:lnT>
                    <a:lnB cap="flat" cmpd="sng" w="7625">
                      <a:solidFill>
                        <a:srgbClr val="285E49"/>
                      </a:solidFill>
                      <a:prstDash val="solid"/>
                      <a:round/>
                      <a:headEnd len="sm" w="sm" type="none"/>
                      <a:tailEnd len="sm" w="sm" type="none"/>
                    </a:lnB>
                    <a:solidFill>
                      <a:srgbClr val="12372C"/>
                    </a:solidFill>
                  </a:tcPr>
                </a:tc>
              </a:tr>
            </a:tbl>
          </a:graphicData>
        </a:graphic>
      </p:graphicFrame>
      <p:sp>
        <p:nvSpPr>
          <p:cNvPr id="199" name="Google Shape;199;p16"/>
          <p:cNvSpPr txBox="1"/>
          <p:nvPr/>
        </p:nvSpPr>
        <p:spPr>
          <a:xfrm>
            <a:off x="609600" y="279400"/>
            <a:ext cx="5715000" cy="279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1100">
                <a:solidFill>
                  <a:srgbClr val="A9C5B1"/>
                </a:solidFill>
                <a:latin typeface="Manrope"/>
                <a:ea typeface="Manrope"/>
                <a:cs typeface="Manrope"/>
                <a:sym typeface="Manrope"/>
              </a:rPr>
              <a:t>YieldShield Arc</a:t>
            </a:r>
            <a:endParaRPr b="1" sz="1100">
              <a:solidFill>
                <a:srgbClr val="A9C5B1"/>
              </a:solidFill>
              <a:latin typeface="Manrope"/>
              <a:ea typeface="Manrope"/>
              <a:cs typeface="Manrope"/>
              <a:sym typeface="Manrope"/>
            </a:endParaRPr>
          </a:p>
        </p:txBody>
      </p:sp>
      <p:sp>
        <p:nvSpPr>
          <p:cNvPr id="200" name="Google Shape;200;p16"/>
          <p:cNvSpPr txBox="1"/>
          <p:nvPr/>
        </p:nvSpPr>
        <p:spPr>
          <a:xfrm>
            <a:off x="609600" y="800100"/>
            <a:ext cx="110490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3600">
                <a:solidFill>
                  <a:srgbClr val="F6F5EF"/>
                </a:solidFill>
                <a:latin typeface="Manrope"/>
                <a:ea typeface="Manrope"/>
                <a:cs typeface="Manrope"/>
                <a:sym typeface="Manrope"/>
              </a:rPr>
              <a:t>$16,000 across four milestones</a:t>
            </a:r>
            <a:endParaRPr b="1" sz="3600">
              <a:solidFill>
                <a:srgbClr val="F6F5EF"/>
              </a:solidFill>
              <a:latin typeface="Manrope"/>
              <a:ea typeface="Manrope"/>
              <a:cs typeface="Manrope"/>
              <a:sym typeface="Manrope"/>
            </a:endParaRPr>
          </a:p>
        </p:txBody>
      </p:sp>
      <p:sp>
        <p:nvSpPr>
          <p:cNvPr id="201" name="Google Shape;201;p16"/>
          <p:cNvSpPr txBox="1"/>
          <p:nvPr/>
        </p:nvSpPr>
        <p:spPr>
          <a:xfrm>
            <a:off x="11099800" y="6438900"/>
            <a:ext cx="482700" cy="254100"/>
          </a:xfrm>
          <a:prstGeom prst="rect">
            <a:avLst/>
          </a:prstGeom>
          <a:noFill/>
          <a:ln>
            <a:noFill/>
          </a:ln>
        </p:spPr>
        <p:txBody>
          <a:bodyPr anchorCtr="0" anchor="t" bIns="91425" lIns="91425" spcFirstLastPara="1" rIns="91425" wrap="square" tIns="91425">
            <a:noAutofit/>
          </a:bodyPr>
          <a:lstStyle/>
          <a:p>
            <a:pPr indent="0" lvl="0" marL="0" rtl="0" algn="r">
              <a:lnSpc>
                <a:spcPct val="110000"/>
              </a:lnSpc>
              <a:spcBef>
                <a:spcPts val="0"/>
              </a:spcBef>
              <a:spcAft>
                <a:spcPts val="0"/>
              </a:spcAft>
              <a:buNone/>
            </a:pPr>
            <a:r>
              <a:rPr lang="en-US" sz="1100">
                <a:solidFill>
                  <a:srgbClr val="A9C5B1"/>
                </a:solidFill>
                <a:latin typeface="Manrope"/>
                <a:ea typeface="Manrope"/>
                <a:cs typeface="Manrope"/>
                <a:sym typeface="Manrope"/>
              </a:rPr>
              <a:t>09</a:t>
            </a:r>
            <a:endParaRPr sz="1100">
              <a:solidFill>
                <a:srgbClr val="A9C5B1"/>
              </a:solidFill>
              <a:latin typeface="Manrope"/>
              <a:ea typeface="Manrope"/>
              <a:cs typeface="Manrope"/>
              <a:sym typeface="Manrope"/>
            </a:endParaRPr>
          </a:p>
        </p:txBody>
      </p:sp>
      <p:sp>
        <p:nvSpPr>
          <p:cNvPr id="202" name="Google Shape;202;p16"/>
          <p:cNvSpPr txBox="1"/>
          <p:nvPr/>
        </p:nvSpPr>
        <p:spPr>
          <a:xfrm>
            <a:off x="609600" y="1943100"/>
            <a:ext cx="6350100" cy="597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800">
                <a:solidFill>
                  <a:srgbClr val="F6F5EF"/>
                </a:solidFill>
                <a:latin typeface="Manrope"/>
                <a:ea typeface="Manrope"/>
                <a:cs typeface="Manrope"/>
                <a:sym typeface="Manrope"/>
              </a:rPr>
              <a:t>$11,000 core work</a:t>
            </a:r>
            <a:endParaRPr b="1" sz="2800">
              <a:solidFill>
                <a:srgbClr val="F6F5EF"/>
              </a:solidFill>
              <a:latin typeface="Manrope"/>
              <a:ea typeface="Manrope"/>
              <a:cs typeface="Manrope"/>
              <a:sym typeface="Manrope"/>
            </a:endParaRPr>
          </a:p>
        </p:txBody>
      </p:sp>
      <p:sp>
        <p:nvSpPr>
          <p:cNvPr id="203" name="Google Shape;203;p16"/>
          <p:cNvSpPr txBox="1"/>
          <p:nvPr/>
        </p:nvSpPr>
        <p:spPr>
          <a:xfrm>
            <a:off x="6819900" y="1943100"/>
            <a:ext cx="4762500" cy="78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US" sz="2400">
                <a:solidFill>
                  <a:srgbClr val="ED765E"/>
                </a:solidFill>
                <a:latin typeface="Manrope"/>
                <a:ea typeface="Manrope"/>
                <a:cs typeface="Manrope"/>
                <a:sym typeface="Manrope"/>
              </a:rPr>
              <a:t>$5,000 conditional mainnet</a:t>
            </a:r>
            <a:endParaRPr b="1" sz="2400">
              <a:solidFill>
                <a:srgbClr val="ED765E"/>
              </a:solidFill>
              <a:latin typeface="Manrope"/>
              <a:ea typeface="Manrope"/>
              <a:cs typeface="Manrope"/>
              <a:sym typeface="Manrope"/>
            </a:endParaRPr>
          </a:p>
        </p:txBody>
      </p:sp>
      <p:sp>
        <p:nvSpPr>
          <p:cNvPr id="204" name="Google Shape;204;p16"/>
          <p:cNvSpPr txBox="1"/>
          <p:nvPr/>
        </p:nvSpPr>
        <p:spPr>
          <a:xfrm>
            <a:off x="609600" y="6375400"/>
            <a:ext cx="101601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US" sz="1100">
                <a:solidFill>
                  <a:srgbClr val="A9C5B1"/>
                </a:solidFill>
                <a:latin typeface="Manrope"/>
                <a:ea typeface="Manrope"/>
                <a:cs typeface="Manrope"/>
                <a:sym typeface="Manrope"/>
              </a:rPr>
              <a:t>Mainnet requires a separately funded independent audit and legal review. Existing work is not billed.</a:t>
            </a:r>
            <a:endParaRPr sz="1100">
              <a:solidFill>
                <a:srgbClr val="A9C5B1"/>
              </a:solidFill>
              <a:latin typeface="Manrope"/>
              <a:ea typeface="Manrope"/>
              <a:cs typeface="Manrope"/>
              <a:sym typeface="Manrope"/>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